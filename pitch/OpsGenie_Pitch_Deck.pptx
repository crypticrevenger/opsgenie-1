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4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8932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3840480" cy="3840480"/>
          </a:xfrm>
          <a:prstGeom prst="ellipse">
            <a:avLst/>
          </a:prstGeom>
          <a:solidFill>
            <a:srgbClr val="059669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82296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Segoe UI" panose="020B0502040204020203"/>
              </a:rPr>
              <a:t>OpsGenie</a:t>
            </a:r>
            <a:endParaRPr sz="6000" b="1" i="0">
              <a:solidFill>
                <a:srgbClr val="FFFFFF"/>
              </a:solidFill>
              <a:latin typeface="Segoe UI" panose="020B0502040204020203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33375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34D399"/>
                </a:solidFill>
                <a:latin typeface="Segoe UI" panose="020B0502040204020203"/>
              </a:rPr>
              <a:t>The WhatsApp-first financial operating assistant for B2B distributors</a:t>
            </a:r>
            <a:endParaRPr sz="2200" b="1" i="0">
              <a:solidFill>
                <a:srgbClr val="34D399"/>
              </a:solidFill>
              <a:latin typeface="Segoe UI" panose="020B05020402040202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9601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D1FAE5"/>
                </a:solidFill>
                <a:latin typeface="Segoe UI" panose="020B0502040204020203"/>
              </a:rPr>
              <a:t>Turns the records you already keep into a decision every morning — before the day begins.</a:t>
            </a:r>
            <a:endParaRPr sz="1500" b="0" i="1">
              <a:solidFill>
                <a:srgbClr val="D1FAE5"/>
              </a:solidFill>
              <a:latin typeface="Segoe UI" panose="020B0502040204020203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68680" y="6080760"/>
            <a:ext cx="7315200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200" b="0" i="0">
                <a:solidFill>
                  <a:srgbClr val="A7F3D0"/>
                </a:solidFill>
                <a:latin typeface="Segoe UI" panose="020B0502040204020203"/>
              </a:rPr>
              <a:t>Spandan Tripathy</a:t>
            </a:r>
            <a:r>
              <a:rPr sz="1200" b="0" i="0">
                <a:solidFill>
                  <a:srgbClr val="A7F3D0"/>
                </a:solidFill>
                <a:latin typeface="Segoe UI" panose="020B0502040204020203"/>
              </a:rPr>
              <a:t>  ·  Founder  ·  tripathyspandan23@gmail.com</a:t>
            </a:r>
            <a:endParaRPr sz="1200" b="0" i="0">
              <a:solidFill>
                <a:srgbClr val="A7F3D0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45720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0B981"/>
                </a:solidFill>
                <a:latin typeface="Segoe UI" panose="020B0502040204020203"/>
              </a:rPr>
              <a:t>THE PROBLEM</a:t>
            </a:r>
            <a:endParaRPr sz="1250" b="1" i="0">
              <a:solidFill>
                <a:srgbClr val="10B981"/>
              </a:solidFill>
              <a:latin typeface="Segoe UI" panose="020B0502040204020203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64E3B"/>
                </a:solidFill>
                <a:latin typeface="Segoe UI" panose="020B0502040204020203"/>
              </a:rPr>
              <a:t>A distributor’s financial reality lives in Tally.
Their daily decisions happen on WhatsApp and phone calls.</a:t>
            </a:r>
            <a:endParaRPr sz="300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214884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34D399"/>
                </a:solidFill>
                <a:latin typeface="Segoe UI" panose="020B0502040204020203"/>
              </a:rPr>
              <a:t>01</a:t>
            </a:r>
            <a:endParaRPr sz="2600" b="1" i="0">
              <a:solidFill>
                <a:srgbClr val="34D399"/>
              </a:solidFill>
              <a:latin typeface="Segoe UI" panose="020B0502040204020203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3063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64E3B"/>
                </a:solidFill>
                <a:latin typeface="Segoe UI" panose="020B0502040204020203"/>
              </a:rPr>
              <a:t>Data ≠ decisions</a:t>
            </a:r>
            <a:endParaRPr sz="170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77240" y="3611880"/>
            <a:ext cx="306324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 panose="020B0502040204020203"/>
              </a:rPr>
              <a:t>Books are accurate, but nobody turns them into “what do I do today” fast enough to matter.</a:t>
            </a:r>
            <a:endParaRPr sz="125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279392" y="214884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37744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34D399"/>
                </a:solidFill>
                <a:latin typeface="Segoe UI" panose="020B0502040204020203"/>
              </a:rPr>
              <a:t>02</a:t>
            </a:r>
            <a:endParaRPr sz="2600" b="1" i="0">
              <a:solidFill>
                <a:srgbClr val="34D399"/>
              </a:solidFill>
              <a:latin typeface="Segoe UI" panose="020B0502040204020203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53712" y="2971800"/>
            <a:ext cx="3063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64E3B"/>
                </a:solidFill>
                <a:latin typeface="Segoe UI" panose="020B0502040204020203"/>
              </a:rPr>
              <a:t>Monthly cash surprises</a:t>
            </a:r>
            <a:endParaRPr sz="170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53712" y="3611880"/>
            <a:ext cx="306324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 panose="020B0502040204020203"/>
              </a:rPr>
              <a:t>Distributors managing 20–50 dealer accounts hit cash-flow surprises monthly or more often — discovered too late to act on.</a:t>
            </a:r>
            <a:endParaRPr sz="125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055864" y="214884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0184" y="237744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34D399"/>
                </a:solidFill>
                <a:latin typeface="Segoe UI" panose="020B0502040204020203"/>
              </a:rPr>
              <a:t>03</a:t>
            </a:r>
            <a:endParaRPr sz="2600" b="1" i="0">
              <a:solidFill>
                <a:srgbClr val="34D399"/>
              </a:solidFill>
              <a:latin typeface="Segoe UI" panose="020B0502040204020203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330184" y="2971800"/>
            <a:ext cx="3063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64E3B"/>
                </a:solidFill>
                <a:latin typeface="Segoe UI" panose="020B0502040204020203"/>
              </a:rPr>
              <a:t>Zero appetite for new software</a:t>
            </a:r>
            <a:endParaRPr sz="170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330184" y="3611880"/>
            <a:ext cx="306324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 panose="020B0502040204020203"/>
              </a:rPr>
              <a:t>They already run Tally/Vyapar and live on WhatsApp. A new app to learn is a new app that goes unused.</a:t>
            </a:r>
            <a:endParaRPr sz="125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2920" y="6473952"/>
            <a:ext cx="11183112" cy="15240"/>
          </a:xfrm>
          <a:prstGeom prst="rect">
            <a:avLst/>
          </a:prstGeom>
          <a:solidFill>
            <a:srgbClr val="D1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Segoe UI" panose="020B0502040204020203"/>
              </a:rPr>
              <a:t>OpsGenie</a:t>
            </a:r>
            <a:endParaRPr sz="1000" b="1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Segoe UI" panose="020B0502040204020203"/>
              </a:rPr>
              <a:t>2</a:t>
            </a:r>
            <a:endParaRPr sz="1000" b="0" i="0">
              <a:solidFill>
                <a:srgbClr val="475569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4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965960"/>
            <a:ext cx="548640" cy="5486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2412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 panose="020B0502040204020203"/>
              </a:rPr>
              <a:t>Distributors don’t get blindsided because they lack data.</a:t>
            </a:r>
            <a:endParaRPr sz="3000" b="1" i="0">
              <a:solidFill>
                <a:srgbClr val="FFFFFF"/>
              </a:solidFill>
              <a:latin typeface="Segoe UI" panose="020B0502040204020203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3000" b="1" i="0">
                <a:solidFill>
                  <a:srgbClr val="34D399"/>
                </a:solidFill>
                <a:latin typeface="Segoe UI" panose="020B0502040204020203"/>
              </a:rPr>
              <a:t>They get blindsided because their data never becomes a decision fast enough.</a:t>
            </a:r>
            <a:endParaRPr sz="3000" b="1" i="0">
              <a:solidFill>
                <a:srgbClr val="34D399"/>
              </a:solidFill>
              <a:latin typeface="Segoe UI" panose="020B0502040204020203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4709160"/>
            <a:ext cx="9601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D1FAE5"/>
                </a:solidFill>
                <a:latin typeface="Segoe UI" panose="020B0502040204020203"/>
              </a:rPr>
              <a:t>OpsGenie closes that gap every single morning — automatically, on the channel they’re already in.</a:t>
            </a:r>
            <a:endParaRPr sz="1600" b="0" i="1">
              <a:solidFill>
                <a:srgbClr val="D1FAE5"/>
              </a:solidFill>
              <a:latin typeface="Segoe UI" panose="020B0502040204020203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83112" cy="15240"/>
          </a:xfrm>
          <a:prstGeom prst="rect">
            <a:avLst/>
          </a:prstGeom>
          <a:solidFill>
            <a:srgbClr val="D1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Segoe UI" panose="020B0502040204020203"/>
              </a:rPr>
              <a:t>OpsGenie</a:t>
            </a:r>
            <a:endParaRPr sz="1000" b="1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Segoe UI" panose="020B0502040204020203"/>
              </a:rPr>
              <a:t>3</a:t>
            </a:r>
            <a:endParaRPr sz="1000" b="0" i="0">
              <a:solidFill>
                <a:srgbClr val="475569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45720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0B981"/>
                </a:solidFill>
                <a:latin typeface="Segoe UI" panose="020B0502040204020203"/>
              </a:rPr>
              <a:t>THE SOLUTION</a:t>
            </a:r>
            <a:endParaRPr sz="1250" b="1" i="0">
              <a:solidFill>
                <a:srgbClr val="10B981"/>
              </a:solidFill>
              <a:latin typeface="Segoe UI" panose="020B0502040204020203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64E3B"/>
                </a:solidFill>
                <a:latin typeface="Segoe UI" panose="020B0502040204020203"/>
              </a:rPr>
              <a:t>OpsGenie — a deterministic financial engine, delivered entirely over WhatsApp</a:t>
            </a:r>
            <a:endParaRPr sz="300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5486400" cy="4023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350" b="1" i="0">
                <a:solidFill>
                  <a:srgbClr val="10B981"/>
                </a:solidFill>
                <a:latin typeface="Segoe UI" panose="020B0502040204020203"/>
              </a:rPr>
              <a:t>▸  </a:t>
            </a:r>
            <a:r>
              <a:rPr sz="1350" b="0" i="0">
                <a:solidFill>
                  <a:srgbClr val="0F172A"/>
                </a:solidFill>
                <a:latin typeface="Segoe UI" panose="020B0502040204020203"/>
              </a:rPr>
              <a:t>Ingests what a distributor already has — Tally, Vyapar, Excel exports, even photographed Tally voucher PDFs.</a:t>
            </a:r>
            <a:endParaRPr sz="1350" b="0" i="0">
              <a:solidFill>
                <a:srgbClr val="0F172A"/>
              </a:solidFill>
              <a:latin typeface="Segoe UI" panose="020B0502040204020203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350" b="1" i="0">
                <a:solidFill>
                  <a:srgbClr val="10B981"/>
                </a:solidFill>
                <a:latin typeface="Segoe UI" panose="020B0502040204020203"/>
              </a:rPr>
              <a:t>▸  </a:t>
            </a:r>
            <a:r>
              <a:rPr sz="1350" b="0" i="0">
                <a:solidFill>
                  <a:srgbClr val="0F172A"/>
                </a:solidFill>
                <a:latin typeface="Segoe UI" panose="020B0502040204020203"/>
              </a:rPr>
              <a:t>Maintains one deterministic ledger of invoices, payments, dealers and suppliers — no re-entry, no parallel system of record.</a:t>
            </a:r>
            <a:endParaRPr sz="1350" b="0" i="0">
              <a:solidFill>
                <a:srgbClr val="0F172A"/>
              </a:solidFill>
              <a:latin typeface="Segoe UI" panose="020B0502040204020203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350" b="1" i="0">
                <a:solidFill>
                  <a:srgbClr val="10B981"/>
                </a:solidFill>
                <a:latin typeface="Segoe UI" panose="020B0502040204020203"/>
              </a:rPr>
              <a:t>▸  </a:t>
            </a:r>
            <a:r>
              <a:rPr sz="1350" b="0" i="0">
                <a:solidFill>
                  <a:srgbClr val="0F172A"/>
                </a:solidFill>
                <a:latin typeface="Segoe UI" panose="020B0502040204020203"/>
              </a:rPr>
              <a:t>Delivers a daily cash-position briefing, on-demand reports, and guided write actions (record a payment, create an order, update stock) entirely on WhatsApp.</a:t>
            </a:r>
            <a:endParaRPr sz="1350" b="0" i="0">
              <a:solidFill>
                <a:srgbClr val="0F172A"/>
              </a:solidFill>
              <a:latin typeface="Segoe UI" panose="020B0502040204020203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350" b="1" i="0">
                <a:solidFill>
                  <a:srgbClr val="10B981"/>
                </a:solidFill>
                <a:latin typeface="Segoe UI" panose="020B0502040204020203"/>
              </a:rPr>
              <a:t>▸  </a:t>
            </a:r>
            <a:r>
              <a:rPr sz="1350" b="0" i="0">
                <a:solidFill>
                  <a:srgbClr val="0F172A"/>
                </a:solidFill>
                <a:latin typeface="Segoe UI" panose="020B0502040204020203"/>
              </a:rPr>
              <a:t>An LLM narrates and answers free-form questions — but never owns business state and never does money math.</a:t>
            </a:r>
            <a:endParaRPr sz="1350" b="0" i="0">
              <a:solidFill>
                <a:srgbClr val="0F172A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46520" y="1965960"/>
            <a:ext cx="5212080" cy="4114800"/>
          </a:xfrm>
          <a:prstGeom prst="roundRect">
            <a:avLst>
              <a:gd name="adj" fmla="val 5000"/>
            </a:avLst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2221992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4D399"/>
                </a:solidFill>
                <a:latin typeface="Segoe UI" panose="020B0502040204020203"/>
              </a:rPr>
              <a:t>8:00 AM — Morning Briefing</a:t>
            </a:r>
            <a:endParaRPr sz="1300" b="1" i="0">
              <a:solidFill>
                <a:srgbClr val="34D399"/>
              </a:solidFill>
              <a:latin typeface="Segoe UI" panose="020B0502040204020203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766560" y="2743200"/>
            <a:ext cx="4389120" cy="566928"/>
          </a:xfrm>
          <a:prstGeom prst="roundRect">
            <a:avLst>
              <a:gd name="adj" fmla="val 25000"/>
            </a:avLst>
          </a:prstGeom>
          <a:solidFill>
            <a:srgbClr val="0B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0" y="281635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EAFBF3"/>
                </a:solidFill>
                <a:latin typeface="Segoe UI" panose="020B0502040204020203"/>
              </a:rPr>
              <a:t>Good morning! Cash position: ₹4.2L in, ₹1.8L out (7d)</a:t>
            </a:r>
            <a:endParaRPr sz="1080" b="0" i="0">
              <a:solidFill>
                <a:srgbClr val="EAFBF3"/>
              </a:solidFill>
              <a:latin typeface="Segoe UI" panose="020B0502040204020203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766560" y="3456432"/>
            <a:ext cx="4389120" cy="566928"/>
          </a:xfrm>
          <a:prstGeom prst="roundRect">
            <a:avLst>
              <a:gd name="adj" fmla="val 25000"/>
            </a:avLst>
          </a:prstGeom>
          <a:solidFill>
            <a:srgbClr val="0B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3529584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EAFBF3"/>
                </a:solidFill>
                <a:latin typeface="Segoe UI" panose="020B0502040204020203"/>
              </a:rPr>
              <a:t>⚠️ Watch this week: Sharma Traders — ₹78,000 due in 2 days</a:t>
            </a:r>
            <a:endParaRPr sz="1080" b="0" i="0">
              <a:solidFill>
                <a:srgbClr val="EAFBF3"/>
              </a:solidFill>
              <a:latin typeface="Segoe UI" panose="020B0502040204020203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766560" y="4169664"/>
            <a:ext cx="4389120" cy="566928"/>
          </a:xfrm>
          <a:prstGeom prst="roundRect">
            <a:avLst>
              <a:gd name="adj" fmla="val 25000"/>
            </a:avLst>
          </a:prstGeom>
          <a:solidFill>
            <a:srgbClr val="0B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4242816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EAFBF3"/>
                </a:solidFill>
                <a:latin typeface="Segoe UI" panose="020B0502040204020203"/>
              </a:rPr>
              <a:t>📦 3 products may run out within 10 days</a:t>
            </a:r>
            <a:endParaRPr sz="1080" b="0" i="0">
              <a:solidFill>
                <a:srgbClr val="EAFBF3"/>
              </a:solidFill>
              <a:latin typeface="Segoe UI" panose="020B0502040204020203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766560" y="4882896"/>
            <a:ext cx="4389120" cy="566928"/>
          </a:xfrm>
          <a:prstGeom prst="roundRect">
            <a:avLst>
              <a:gd name="adj" fmla="val 25000"/>
            </a:avLst>
          </a:prstGeom>
          <a:solidFill>
            <a:srgbClr val="0B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0" y="4956048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EAFBF3"/>
                </a:solidFill>
                <a:latin typeface="Segoe UI" panose="020B0502040204020203"/>
              </a:rPr>
              <a:t>Reply with a number, or type your question.</a:t>
            </a:r>
            <a:endParaRPr sz="1080" b="0" i="0">
              <a:solidFill>
                <a:srgbClr val="EAFBF3"/>
              </a:solidFill>
              <a:latin typeface="Segoe UI" panose="020B0502040204020203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766560" y="55778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34D399"/>
                </a:solidFill>
                <a:latin typeface="Segoe UI" panose="020B0502040204020203"/>
              </a:rPr>
              <a:t>See the full working demo → pitch/demo/opsgenie_demo.html</a:t>
            </a:r>
            <a:endParaRPr sz="1000" b="0" i="1">
              <a:solidFill>
                <a:srgbClr val="34D399"/>
              </a:solidFill>
              <a:latin typeface="Segoe UI" panose="020B0502040204020203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2920" y="6473952"/>
            <a:ext cx="11183112" cy="15240"/>
          </a:xfrm>
          <a:prstGeom prst="rect">
            <a:avLst/>
          </a:prstGeom>
          <a:solidFill>
            <a:srgbClr val="D1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Segoe UI" panose="020B0502040204020203"/>
              </a:rPr>
              <a:t>OpsGenie</a:t>
            </a:r>
            <a:endParaRPr sz="1000" b="1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Segoe UI" panose="020B0502040204020203"/>
              </a:rPr>
              <a:t>4</a:t>
            </a:r>
            <a:endParaRPr sz="1000" b="0" i="0">
              <a:solidFill>
                <a:srgbClr val="475569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45720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0B981"/>
                </a:solidFill>
                <a:latin typeface="Segoe UI" panose="020B0502040204020203"/>
              </a:rPr>
              <a:t>HOW IT WORKS</a:t>
            </a:r>
            <a:endParaRPr sz="1250" b="1" i="0">
              <a:solidFill>
                <a:srgbClr val="10B981"/>
              </a:solidFill>
              <a:latin typeface="Segoe UI" panose="020B0502040204020203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64E3B"/>
                </a:solidFill>
                <a:latin typeface="Segoe UI" panose="020B0502040204020203"/>
              </a:rPr>
              <a:t>The product loop — this is the moat, not any single feature</a:t>
            </a:r>
            <a:endParaRPr sz="300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2286000"/>
            <a:ext cx="1572768" cy="1371600"/>
          </a:xfrm>
          <a:prstGeom prst="roundRect">
            <a:avLst>
              <a:gd name="adj" fmla="val 10000"/>
            </a:avLst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2423160"/>
            <a:ext cx="1353312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 panose="020B0502040204020203"/>
              </a:rPr>
              <a:t>Business event occurs</a:t>
            </a:r>
            <a:endParaRPr sz="1150" b="1" i="0">
              <a:solidFill>
                <a:srgbClr val="FFFFFF"/>
              </a:solidFill>
              <a:latin typeface="Segoe UI" panose="020B0502040204020203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75688" y="2697480"/>
            <a:ext cx="34381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34D399"/>
                </a:solidFill>
                <a:latin typeface="Segoe UI" panose="020B0502040204020203"/>
              </a:rPr>
              <a:t>→</a:t>
            </a:r>
            <a:endParaRPr sz="2200" b="1" i="0">
              <a:solidFill>
                <a:srgbClr val="34D399"/>
              </a:solidFill>
              <a:latin typeface="Segoe UI" panose="020B0502040204020203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419502" y="2286000"/>
            <a:ext cx="1572768" cy="1371600"/>
          </a:xfrm>
          <a:prstGeom prst="roundRect">
            <a:avLst>
              <a:gd name="adj" fmla="val 1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29230" y="2423160"/>
            <a:ext cx="1353312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 panose="020B0502040204020203"/>
              </a:rPr>
              <a:t>Deterministic engine processes it</a:t>
            </a:r>
            <a:endParaRPr sz="1150" b="1" i="0">
              <a:solidFill>
                <a:srgbClr val="FFFFFF"/>
              </a:solidFill>
              <a:latin typeface="Segoe UI" panose="020B05020402040202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992270" y="2697480"/>
            <a:ext cx="34381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34D399"/>
                </a:solidFill>
                <a:latin typeface="Segoe UI" panose="020B0502040204020203"/>
              </a:rPr>
              <a:t>→</a:t>
            </a:r>
            <a:endParaRPr sz="2200" b="1" i="0">
              <a:solidFill>
                <a:srgbClr val="34D399"/>
              </a:solidFill>
              <a:latin typeface="Segoe UI" panose="020B0502040204020203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36084" y="2286000"/>
            <a:ext cx="1572768" cy="1371600"/>
          </a:xfrm>
          <a:prstGeom prst="roundRect">
            <a:avLst>
              <a:gd name="adj" fmla="val 10000"/>
            </a:avLst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5812" y="2423160"/>
            <a:ext cx="1353312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 panose="020B0502040204020203"/>
              </a:rPr>
              <a:t>Snapshot reflects new reality</a:t>
            </a:r>
            <a:endParaRPr sz="1150" b="1" i="0">
              <a:solidFill>
                <a:srgbClr val="FFFFFF"/>
              </a:solidFill>
              <a:latin typeface="Segoe UI" panose="020B0502040204020203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08852" y="2697480"/>
            <a:ext cx="34381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34D399"/>
                </a:solidFill>
                <a:latin typeface="Segoe UI" panose="020B0502040204020203"/>
              </a:rPr>
              <a:t>→</a:t>
            </a:r>
            <a:endParaRPr sz="2200" b="1" i="0">
              <a:solidFill>
                <a:srgbClr val="34D399"/>
              </a:solidFill>
              <a:latin typeface="Segoe UI" panose="020B0502040204020203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252666" y="2286000"/>
            <a:ext cx="1572768" cy="1371600"/>
          </a:xfrm>
          <a:prstGeom prst="roundRect">
            <a:avLst>
              <a:gd name="adj" fmla="val 1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394" y="2423160"/>
            <a:ext cx="1353312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 panose="020B0502040204020203"/>
              </a:rPr>
              <a:t>Recommendation engine runs</a:t>
            </a:r>
            <a:endParaRPr sz="1150" b="1" i="0">
              <a:solidFill>
                <a:srgbClr val="FFFFFF"/>
              </a:solidFill>
              <a:latin typeface="Segoe UI" panose="020B0502040204020203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825434" y="2697480"/>
            <a:ext cx="34381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34D399"/>
                </a:solidFill>
                <a:latin typeface="Segoe UI" panose="020B0502040204020203"/>
              </a:rPr>
              <a:t>→</a:t>
            </a:r>
            <a:endParaRPr sz="2200" b="1" i="0">
              <a:solidFill>
                <a:srgbClr val="34D399"/>
              </a:solidFill>
              <a:latin typeface="Segoe UI" panose="020B0502040204020203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169248" y="2286000"/>
            <a:ext cx="1572768" cy="1371600"/>
          </a:xfrm>
          <a:prstGeom prst="roundRect">
            <a:avLst>
              <a:gd name="adj" fmla="val 10000"/>
            </a:avLst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8976" y="2423160"/>
            <a:ext cx="1353312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 panose="020B0502040204020203"/>
              </a:rPr>
              <a:t>Morning briefing delivered</a:t>
            </a:r>
            <a:endParaRPr sz="1150" b="1" i="0">
              <a:solidFill>
                <a:srgbClr val="FFFFFF"/>
              </a:solidFill>
              <a:latin typeface="Segoe UI" panose="020B0502040204020203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742016" y="2697480"/>
            <a:ext cx="34381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34D399"/>
                </a:solidFill>
                <a:latin typeface="Segoe UI" panose="020B0502040204020203"/>
              </a:rPr>
              <a:t>→</a:t>
            </a:r>
            <a:endParaRPr sz="2200" b="1" i="0">
              <a:solidFill>
                <a:srgbClr val="34D399"/>
              </a:solidFill>
              <a:latin typeface="Segoe UI" panose="020B0502040204020203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10085830" y="2286000"/>
            <a:ext cx="1572768" cy="1371600"/>
          </a:xfrm>
          <a:prstGeom prst="roundRect">
            <a:avLst>
              <a:gd name="adj" fmla="val 1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95558" y="2423160"/>
            <a:ext cx="1353312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 panose="020B0502040204020203"/>
              </a:rPr>
              <a:t>Distributor takes action</a:t>
            </a:r>
            <a:endParaRPr sz="1150" b="1" i="0">
              <a:solidFill>
                <a:srgbClr val="FFFFFF"/>
              </a:solidFill>
              <a:latin typeface="Segoe UI" panose="020B0502040204020203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02920" y="4114800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475569"/>
                </a:solidFill>
                <a:latin typeface="Segoe UI" panose="020B0502040204020203"/>
              </a:rPr>
              <a:t>… which produces a new business event, and the loop repeats — daily, compounding.</a:t>
            </a:r>
            <a:endParaRPr sz="1300" b="0" i="1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1280160" y="4892040"/>
            <a:ext cx="9601200" cy="1234440"/>
          </a:xfrm>
          <a:prstGeom prst="roundRect">
            <a:avLst>
              <a:gd name="adj" fmla="val 8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00200" y="5074920"/>
            <a:ext cx="896112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1">
                <a:solidFill>
                  <a:srgbClr val="064E3B"/>
                </a:solidFill>
                <a:latin typeface="Segoe UI" panose="020B0502040204020203"/>
              </a:rPr>
              <a:t>“The morning briefing is the output of this loop, not the product itself. The moat is the loop running daily, with real data accumulating over months.”</a:t>
            </a:r>
            <a:endParaRPr sz="1450" b="1" i="1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02920" y="6473952"/>
            <a:ext cx="11183112" cy="15240"/>
          </a:xfrm>
          <a:prstGeom prst="rect">
            <a:avLst/>
          </a:prstGeom>
          <a:solidFill>
            <a:srgbClr val="D1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Segoe UI" panose="020B0502040204020203"/>
              </a:rPr>
              <a:t>OpsGenie</a:t>
            </a:r>
            <a:endParaRPr sz="1000" b="1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Segoe UI" panose="020B0502040204020203"/>
              </a:rPr>
              <a:t>5</a:t>
            </a:r>
            <a:endParaRPr sz="1000" b="0" i="0">
              <a:solidFill>
                <a:srgbClr val="475569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45720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0B981"/>
                </a:solidFill>
                <a:latin typeface="Segoe UI" panose="020B0502040204020203"/>
              </a:rPr>
              <a:t>WHY DISTRIBUTORS CAN TRUST IT</a:t>
            </a:r>
            <a:endParaRPr sz="1250" b="1" i="0">
              <a:solidFill>
                <a:srgbClr val="10B981"/>
              </a:solidFill>
              <a:latin typeface="Segoe UI" panose="020B0502040204020203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64E3B"/>
                </a:solidFill>
                <a:latin typeface="Segoe UI" panose="020B0502040204020203"/>
              </a:rPr>
              <a:t>Money math never touches the LLM — by construction, not by policy</a:t>
            </a:r>
            <a:endParaRPr sz="300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965960"/>
            <a:ext cx="5440680" cy="2011680"/>
          </a:xfrm>
          <a:prstGeom prst="roundRect">
            <a:avLst>
              <a:gd name="adj" fmla="val 6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2240280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9631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64E3B"/>
                </a:solidFill>
                <a:latin typeface="Segoe UI" panose="020B0502040204020203"/>
              </a:rPr>
              <a:t>Deterministic ledger</a:t>
            </a:r>
            <a:endParaRPr sz="15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4892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475569"/>
                </a:solidFill>
                <a:latin typeface="Segoe UI" panose="020B0502040204020203"/>
              </a:rPr>
              <a:t>Every number in every briefing traces back to a real invoice or payment. The LLM narrates; it never calculates, decides, or writes.</a:t>
            </a:r>
            <a:endParaRPr sz="118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126480" y="1965960"/>
            <a:ext cx="5440680" cy="2011680"/>
          </a:xfrm>
          <a:prstGeom prst="roundRect">
            <a:avLst>
              <a:gd name="adj" fmla="val 6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0" y="2240280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49631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64E3B"/>
                </a:solidFill>
                <a:latin typeface="Segoe UI" panose="020B0502040204020203"/>
              </a:rPr>
              <a:t>Writes are guided workflows</a:t>
            </a:r>
            <a:endParaRPr sz="15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0" y="2926080"/>
            <a:ext cx="4892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475569"/>
                </a:solidFill>
                <a:latin typeface="Segoe UI" panose="020B0502040204020203"/>
              </a:rPr>
              <a:t>Creating an order or recording a payment is a confirm-gated flow (“Reply YES to confirm”), re-derived fresh at the moment of confirmation — never a freeform AI action.</a:t>
            </a:r>
            <a:endParaRPr sz="118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02920" y="4160520"/>
            <a:ext cx="5440680" cy="2011680"/>
          </a:xfrm>
          <a:prstGeom prst="roundRect">
            <a:avLst>
              <a:gd name="adj" fmla="val 6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4434840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9087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64E3B"/>
                </a:solidFill>
                <a:latin typeface="Segoe UI" panose="020B0502040204020203"/>
              </a:rPr>
              <a:t>Money-safety guard on free-form Q&amp;A</a:t>
            </a:r>
            <a:endParaRPr sz="15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77240" y="5120640"/>
            <a:ext cx="4892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475569"/>
                </a:solidFill>
                <a:latin typeface="Segoe UI" panose="020B0502040204020203"/>
              </a:rPr>
              <a:t>The AI Q&amp;A agent discards any reply containing a figure its own read-only tools didn’t actually return.</a:t>
            </a:r>
            <a:endParaRPr sz="118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126480" y="4160520"/>
            <a:ext cx="5440680" cy="2011680"/>
          </a:xfrm>
          <a:prstGeom prst="roundRect">
            <a:avLst>
              <a:gd name="adj" fmla="val 6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0" y="4434840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469087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64E3B"/>
                </a:solidFill>
                <a:latin typeface="Segoe UI" panose="020B0502040204020203"/>
              </a:rPr>
              <a:t>Provider-agnostic &amp; resilient</a:t>
            </a:r>
            <a:endParaRPr sz="15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00800" y="5120640"/>
            <a:ext cx="4892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475569"/>
                </a:solidFill>
                <a:latin typeface="Segoe UI" panose="020B0502040204020203"/>
              </a:rPr>
              <a:t>A pluggable failover chain across 6 LLM providers (Claude, Gemini, Groq, OpenRouter, GitHub Models, Cohere) — verified in production failing over a real 429 with identical figures.</a:t>
            </a:r>
            <a:endParaRPr sz="118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2920" y="6473952"/>
            <a:ext cx="11183112" cy="15240"/>
          </a:xfrm>
          <a:prstGeom prst="rect">
            <a:avLst/>
          </a:prstGeom>
          <a:solidFill>
            <a:srgbClr val="D1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Segoe UI" panose="020B0502040204020203"/>
              </a:rPr>
              <a:t>OpsGenie</a:t>
            </a:r>
            <a:endParaRPr sz="1000" b="1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Segoe UI" panose="020B0502040204020203"/>
              </a:rPr>
              <a:t>6</a:t>
            </a:r>
            <a:endParaRPr sz="1000" b="0" i="0">
              <a:solidFill>
                <a:srgbClr val="475569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45720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0B981"/>
                </a:solidFill>
                <a:latin typeface="Segoe UI" panose="020B0502040204020203"/>
              </a:rPr>
              <a:t>EVERYTHING WE’VE BUILT · 1 OF 4</a:t>
            </a:r>
            <a:endParaRPr sz="1250" b="1" i="0">
              <a:solidFill>
                <a:srgbClr val="10B981"/>
              </a:solidFill>
              <a:latin typeface="Segoe UI" panose="020B0502040204020203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64E3B"/>
                </a:solidFill>
                <a:latin typeface="Segoe UI" panose="020B0502040204020203"/>
              </a:rPr>
              <a:t>Daily intelligence, delivered before the day starts</a:t>
            </a:r>
            <a:endParaRPr sz="260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874519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74519"/>
            <a:ext cx="6400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57399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4E3B"/>
                </a:solidFill>
                <a:latin typeface="Segoe UI" panose="020B0502040204020203"/>
              </a:rPr>
              <a:t>Morning &amp; evening briefings</a:t>
            </a:r>
            <a:endParaRPr sz="13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8952" y="2560319"/>
            <a:ext cx="3154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569"/>
                </a:solidFill>
                <a:latin typeface="Segoe UI" panose="020B0502040204020203"/>
              </a:rPr>
              <a:t>LLM-narrated cash position, honest accrual vs. cash-basis split — never blended into one number.</a:t>
            </a:r>
            <a:endParaRPr sz="108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279392" y="1874519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874519"/>
            <a:ext cx="6400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5424" y="2057399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4E3B"/>
                </a:solidFill>
                <a:latin typeface="Segoe UI" panose="020B0502040204020203"/>
              </a:rPr>
              <a:t>7-day cash-shortage forecast</a:t>
            </a:r>
            <a:endParaRPr sz="13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35424" y="2560319"/>
            <a:ext cx="3154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569"/>
                </a:solidFill>
                <a:latin typeface="Segoe UI" panose="020B0502040204020203"/>
              </a:rPr>
              <a:t>Walks expected collections/payments day-by-day, names the single biggest payment driving the shortfall.</a:t>
            </a:r>
            <a:endParaRPr sz="108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055864" y="1874519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55864" y="1874519"/>
            <a:ext cx="6400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1896" y="2057399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4E3B"/>
                </a:solidFill>
                <a:latin typeface="Segoe UI" panose="020B0502040204020203"/>
              </a:rPr>
              <a:t>Stock-out forecast</a:t>
            </a:r>
            <a:endParaRPr sz="13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311896" y="2560319"/>
            <a:ext cx="3154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569"/>
                </a:solidFill>
                <a:latin typeface="Segoe UI" panose="020B0502040204020203"/>
              </a:rPr>
              <a:t>Sales-velocity model per product, guarded against thin data (≥3 sale-days, ≥10 units) before it ever speaks up.</a:t>
            </a:r>
            <a:endParaRPr sz="108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02920" y="4023359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023359"/>
            <a:ext cx="6400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4206239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4E3B"/>
                </a:solidFill>
                <a:latin typeface="Segoe UI" panose="020B0502040204020203"/>
              </a:rPr>
              <a:t>Pre-due invoice nudges</a:t>
            </a:r>
            <a:endParaRPr sz="13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58952" y="4709159"/>
            <a:ext cx="3154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569"/>
                </a:solidFill>
                <a:latin typeface="Segoe UI" panose="020B0502040204020203"/>
              </a:rPr>
              <a:t>Fires 1–2 days before a receivable is due — with a suggested action, not just a number.</a:t>
            </a:r>
            <a:endParaRPr sz="108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279392" y="4023359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9392" y="4023359"/>
            <a:ext cx="6400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4206239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4E3B"/>
                </a:solidFill>
                <a:latin typeface="Segoe UI" panose="020B0502040204020203"/>
              </a:rPr>
              <a:t>Dealer-risk &amp; overdue alerts</a:t>
            </a:r>
            <a:endParaRPr sz="13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35424" y="4709159"/>
            <a:ext cx="3154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569"/>
                </a:solidFill>
                <a:latin typeface="Segoe UI" panose="020B0502040204020203"/>
              </a:rPr>
              <a:t>Automatic flags for high-risk dealers; optional direct-to-dealer reminders with the distributor’s consent.</a:t>
            </a:r>
            <a:endParaRPr sz="108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055864" y="4023359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55864" y="4023359"/>
            <a:ext cx="6400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11896" y="4206239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4E3B"/>
                </a:solidFill>
                <a:latin typeface="Segoe UI" panose="020B0502040204020203"/>
              </a:rPr>
              <a:t>Trend analytics</a:t>
            </a:r>
            <a:endParaRPr sz="13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311896" y="4709159"/>
            <a:ext cx="3154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569"/>
                </a:solidFill>
                <a:latin typeface="Segoe UI" panose="020B0502040204020203"/>
              </a:rPr>
              <a:t>Week-over-week cash trends and 30-day dealer/product movement — including credit-risk dealers whose balance is climbing.</a:t>
            </a:r>
            <a:endParaRPr sz="108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02920" y="6473952"/>
            <a:ext cx="11183112" cy="15240"/>
          </a:xfrm>
          <a:prstGeom prst="rect">
            <a:avLst/>
          </a:prstGeom>
          <a:solidFill>
            <a:srgbClr val="D1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Segoe UI" panose="020B0502040204020203"/>
              </a:rPr>
              <a:t>OpsGenie</a:t>
            </a:r>
            <a:endParaRPr sz="1000" b="1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Segoe UI" panose="020B0502040204020203"/>
              </a:rPr>
              <a:t>7</a:t>
            </a:r>
            <a:endParaRPr sz="1000" b="0" i="0">
              <a:solidFill>
                <a:srgbClr val="475569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45720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0B981"/>
                </a:solidFill>
                <a:latin typeface="Segoe UI" panose="020B0502040204020203"/>
              </a:rPr>
              <a:t>EVERYTHING WE’VE BUILT · 2 OF 4</a:t>
            </a:r>
            <a:endParaRPr sz="1250" b="1" i="0">
              <a:solidFill>
                <a:srgbClr val="10B981"/>
              </a:solidFill>
              <a:latin typeface="Segoe UI" panose="020B0502040204020203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64E3B"/>
                </a:solidFill>
                <a:latin typeface="Segoe UI" panose="020B0502040204020203"/>
              </a:rPr>
              <a:t>A real system of record — written entirely from WhatsApp</a:t>
            </a:r>
            <a:endParaRPr sz="260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874519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74519"/>
            <a:ext cx="6400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57399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4E3B"/>
                </a:solidFill>
                <a:latin typeface="Segoe UI" panose="020B0502040204020203"/>
              </a:rPr>
              <a:t>Create orders &amp; invoices</a:t>
            </a:r>
            <a:endParaRPr sz="13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8952" y="2560319"/>
            <a:ext cx="3154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569"/>
                </a:solidFill>
                <a:latin typeface="Segoe UI" panose="020B0502040204020203"/>
              </a:rPr>
              <a:t>Guided flow with live GST math, credit-limit and duplicate-order warnings, and an optional advance-payment step.</a:t>
            </a:r>
            <a:endParaRPr sz="108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279392" y="1874519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874519"/>
            <a:ext cx="6400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5424" y="2057399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4E3B"/>
                </a:solidFill>
                <a:latin typeface="Segoe UI" panose="020B0502040204020203"/>
              </a:rPr>
              <a:t>Record payments (FIFO)</a:t>
            </a:r>
            <a:endParaRPr sz="13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35424" y="2560319"/>
            <a:ext cx="3154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569"/>
                </a:solidFill>
                <a:latin typeface="Segoe UI" panose="020B0502040204020203"/>
              </a:rPr>
              <a:t>Same allocator used by CSV import — confirm-gated, re-derived fresh at the moment of commit.</a:t>
            </a:r>
            <a:endParaRPr sz="108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055864" y="1874519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55864" y="1874519"/>
            <a:ext cx="6400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1896" y="2057399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4E3B"/>
                </a:solidFill>
                <a:latin typeface="Segoe UI" panose="020B0502040204020203"/>
              </a:rPr>
              <a:t>Invoice photo → OCR pre-fill</a:t>
            </a:r>
            <a:endParaRPr sz="13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311896" y="2560319"/>
            <a:ext cx="3154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569"/>
                </a:solidFill>
                <a:latin typeface="Segoe UI" panose="020B0502040204020203"/>
              </a:rPr>
              <a:t>Photograph a paper invoice; vision-LLM pre-fills the same guided flow field-by-field — every field still needs a human YES.</a:t>
            </a:r>
            <a:endParaRPr sz="108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02920" y="4023359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023359"/>
            <a:ext cx="6400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4206239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4E3B"/>
                </a:solidFill>
                <a:latin typeface="Segoe UI" panose="020B0502040204020203"/>
              </a:rPr>
              <a:t>Branded PDF invoices</a:t>
            </a:r>
            <a:endParaRPr sz="13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58952" y="4709159"/>
            <a:ext cx="3154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569"/>
                </a:solidFill>
                <a:latin typeface="Segoe UI" panose="020B0502040204020203"/>
              </a:rPr>
              <a:t>Auto-generated, Unicode-script aware (Hindi/Odia/English), delivered straight to the dealer on WhatsApp.</a:t>
            </a:r>
            <a:endParaRPr sz="108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279392" y="4023359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9392" y="4023359"/>
            <a:ext cx="6400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4206239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4E3B"/>
                </a:solidFill>
                <a:latin typeface="Segoe UI" panose="020B0502040204020203"/>
              </a:rPr>
              <a:t>Edit, void &amp; stock-take</a:t>
            </a:r>
            <a:endParaRPr sz="13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35424" y="4709159"/>
            <a:ext cx="3154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569"/>
                </a:solidFill>
                <a:latin typeface="Segoe UI" panose="020B0502040204020203"/>
              </a:rPr>
              <a:t>Full audit trail (old → new, optional reason) on every correction; risky auto-reallocation deliberately left out for safety.</a:t>
            </a:r>
            <a:endParaRPr sz="108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055864" y="4023359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55864" y="4023359"/>
            <a:ext cx="6400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11896" y="4206239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4E3B"/>
                </a:solidFill>
                <a:latin typeface="Segoe UI" panose="020B0502040204020203"/>
              </a:rPr>
              <a:t>Marketing broadcast</a:t>
            </a:r>
            <a:endParaRPr sz="13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311896" y="4709159"/>
            <a:ext cx="3154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569"/>
                </a:solidFill>
                <a:latin typeface="Segoe UI" panose="020B0502040204020203"/>
              </a:rPr>
              <a:t>Opt-in only, segment by all/overdue/named dealers, re-derives the recipient list fresh at send time.</a:t>
            </a:r>
            <a:endParaRPr sz="108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02920" y="6473952"/>
            <a:ext cx="11183112" cy="15240"/>
          </a:xfrm>
          <a:prstGeom prst="rect">
            <a:avLst/>
          </a:prstGeom>
          <a:solidFill>
            <a:srgbClr val="D1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Segoe UI" panose="020B0502040204020203"/>
              </a:rPr>
              <a:t>OpsGenie</a:t>
            </a:r>
            <a:endParaRPr sz="1000" b="1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Segoe UI" panose="020B0502040204020203"/>
              </a:rPr>
              <a:t>8</a:t>
            </a:r>
            <a:endParaRPr sz="1000" b="0" i="0">
              <a:solidFill>
                <a:srgbClr val="475569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45720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0B981"/>
                </a:solidFill>
                <a:latin typeface="Segoe UI" panose="020B0502040204020203"/>
              </a:rPr>
              <a:t>EVERYTHING WE’VE BUILT · 3 OF 4</a:t>
            </a:r>
            <a:endParaRPr sz="1250" b="1" i="0">
              <a:solidFill>
                <a:srgbClr val="10B981"/>
              </a:solidFill>
              <a:latin typeface="Segoe UI" panose="020B0502040204020203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64E3B"/>
                </a:solidFill>
                <a:latin typeface="Segoe UI" panose="020B0502040204020203"/>
              </a:rPr>
              <a:t>Vyapar/Tally-grade reports, without leaving WhatsApp</a:t>
            </a:r>
            <a:endParaRPr sz="260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874519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74519"/>
            <a:ext cx="6400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57399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4E3B"/>
                </a:solidFill>
                <a:latin typeface="Segoe UI" panose="020B0502040204020203"/>
              </a:rPr>
              <a:t>GST sales &amp; purchase registers</a:t>
            </a:r>
            <a:endParaRPr sz="13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8952" y="2560319"/>
            <a:ext cx="3154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569"/>
                </a:solidFill>
                <a:latin typeface="Segoe UI" panose="020B0502040204020203"/>
              </a:rPr>
              <a:t>Rate-wise summary, per-invoice-line detail — requested straight from a WhatsApp chat.</a:t>
            </a:r>
            <a:endParaRPr sz="108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279392" y="1874519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874519"/>
            <a:ext cx="6400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5424" y="2057399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4E3B"/>
                </a:solidFill>
                <a:latin typeface="Segoe UI" panose="020B0502040204020203"/>
              </a:rPr>
              <a:t>Ledger, day book &amp; aging report</a:t>
            </a:r>
            <a:endParaRPr sz="13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35424" y="2560319"/>
            <a:ext cx="3154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569"/>
                </a:solidFill>
                <a:latin typeface="Segoe UI" panose="020B0502040204020203"/>
              </a:rPr>
              <a:t>Opening → running → closing balance; aging bucketed Not Due / 0-30 / 31-60 / 61-90 / 90+.</a:t>
            </a:r>
            <a:endParaRPr sz="108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055864" y="1874519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55864" y="1874519"/>
            <a:ext cx="6400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1896" y="2057399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4E3B"/>
                </a:solidFill>
                <a:latin typeface="Segoe UI" panose="020B0502040204020203"/>
              </a:rPr>
              <a:t>Full Excel export</a:t>
            </a:r>
            <a:endParaRPr sz="13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311896" y="2560319"/>
            <a:ext cx="3154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569"/>
                </a:solidFill>
                <a:latin typeface="Segoe UI" panose="020B0502040204020203"/>
              </a:rPr>
              <a:t>An 11-sheet workbook per company, via a short-lived signed link — no login required.</a:t>
            </a:r>
            <a:endParaRPr sz="108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02920" y="4023359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023359"/>
            <a:ext cx="6400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4206239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4E3B"/>
                </a:solidFill>
                <a:latin typeface="Segoe UI" panose="020B0502040204020203"/>
              </a:rPr>
              <a:t>Flexible import pipeline</a:t>
            </a:r>
            <a:endParaRPr sz="13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58952" y="4709159"/>
            <a:ext cx="3154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569"/>
                </a:solidFill>
                <a:latin typeface="Segoe UI" panose="020B0502040204020203"/>
              </a:rPr>
              <a:t>Tally, Vyapar, canonical CSV/Excel — and now Tally “Multi Voucher Print” PDFs, parsed directly.</a:t>
            </a:r>
            <a:endParaRPr sz="108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279392" y="4023359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9392" y="4023359"/>
            <a:ext cx="6400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4206239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4E3B"/>
                </a:solidFill>
                <a:latin typeface="Segoe UI" panose="020B0502040204020203"/>
              </a:rPr>
              <a:t>Self-serve reconciliation</a:t>
            </a:r>
            <a:endParaRPr sz="13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35424" y="4709159"/>
            <a:ext cx="3154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569"/>
                </a:solidFill>
                <a:latin typeface="Segoe UI" panose="020B0502040204020203"/>
              </a:rPr>
              <a:t>Import totals shown and confirmed before WhatsApp ever starts — catch mistakes on a form, not mid-conversation.</a:t>
            </a:r>
            <a:endParaRPr sz="108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055864" y="4023359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55864" y="4023359"/>
            <a:ext cx="6400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11896" y="4206239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4E3B"/>
                </a:solidFill>
                <a:latin typeface="Segoe UI" panose="020B0502040204020203"/>
              </a:rPr>
              <a:t>Delivery status visibility</a:t>
            </a:r>
            <a:endParaRPr sz="13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311896" y="4709159"/>
            <a:ext cx="3154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569"/>
                </a:solidFill>
                <a:latin typeface="Segoe UI" panose="020B0502040204020203"/>
              </a:rPr>
              <a:t>“Was that invoice PDF actually delivered?” — answerable on demand from real Meta delivery receipts.</a:t>
            </a:r>
            <a:endParaRPr sz="108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02920" y="6473952"/>
            <a:ext cx="11183112" cy="15240"/>
          </a:xfrm>
          <a:prstGeom prst="rect">
            <a:avLst/>
          </a:prstGeom>
          <a:solidFill>
            <a:srgbClr val="D1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Segoe UI" panose="020B0502040204020203"/>
              </a:rPr>
              <a:t>OpsGenie</a:t>
            </a:r>
            <a:endParaRPr sz="1000" b="1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Segoe UI" panose="020B0502040204020203"/>
              </a:rPr>
              <a:t>9</a:t>
            </a:r>
            <a:endParaRPr sz="1000" b="0" i="0">
              <a:solidFill>
                <a:srgbClr val="475569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45720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0B981"/>
                </a:solidFill>
                <a:latin typeface="Segoe UI" panose="020B0502040204020203"/>
              </a:rPr>
              <a:t>EVERYTHING WE’VE BUILT · 4 OF 4</a:t>
            </a:r>
            <a:endParaRPr sz="1250" b="1" i="0">
              <a:solidFill>
                <a:srgbClr val="10B981"/>
              </a:solidFill>
              <a:latin typeface="Segoe UI" panose="020B0502040204020203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64E3B"/>
                </a:solidFill>
                <a:latin typeface="Segoe UI" panose="020B0502040204020203"/>
              </a:rPr>
              <a:t>Built for how India’s distributors actually operate</a:t>
            </a:r>
            <a:endParaRPr sz="260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874519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74519"/>
            <a:ext cx="6400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57399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4E3B"/>
                </a:solidFill>
                <a:latin typeface="Segoe UI" panose="020B0502040204020203"/>
              </a:rPr>
              <a:t>5-locale multilingual</a:t>
            </a:r>
            <a:endParaRPr sz="13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8952" y="2560319"/>
            <a:ext cx="3154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569"/>
                </a:solidFill>
                <a:latin typeface="Segoe UI" panose="020B0502040204020203"/>
              </a:rPr>
              <a:t>English, Hindi &amp; Odia — Devanagari/Odia script and Romanized-first variants, tuned for how people actually type on WhatsApp.</a:t>
            </a:r>
            <a:endParaRPr sz="108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279392" y="1874519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874519"/>
            <a:ext cx="6400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5424" y="2057399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4E3B"/>
                </a:solidFill>
                <a:latin typeface="Segoe UI" panose="020B0502040204020203"/>
              </a:rPr>
              <a:t>Unicode invoice PDFs</a:t>
            </a:r>
            <a:endParaRPr sz="13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35424" y="2560319"/>
            <a:ext cx="3154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569"/>
                </a:solidFill>
                <a:latin typeface="Segoe UI" panose="020B0502040204020203"/>
              </a:rPr>
              <a:t>Correctly renders regional-script dealer/product names — not just Latin text.</a:t>
            </a:r>
            <a:endParaRPr sz="108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055864" y="1874519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55864" y="1874519"/>
            <a:ext cx="6400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1896" y="2057399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4E3B"/>
                </a:solidFill>
                <a:latin typeface="Segoe UI" panose="020B0502040204020203"/>
              </a:rPr>
              <a:t>Self-serve onboarding</a:t>
            </a:r>
            <a:endParaRPr sz="13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311896" y="2560319"/>
            <a:ext cx="3154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569"/>
                </a:solidFill>
                <a:latin typeface="Segoe UI" panose="020B0502040204020203"/>
              </a:rPr>
              <a:t>Public web wizard — import your data or start fresh, then WhatsApp only asks for what wasn’t already provided.</a:t>
            </a:r>
            <a:endParaRPr sz="108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02920" y="4023359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023359"/>
            <a:ext cx="6400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4206239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4E3B"/>
                </a:solidFill>
                <a:latin typeface="Segoe UI" panose="020B0502040204020203"/>
              </a:rPr>
              <a:t>Admin dashboard</a:t>
            </a:r>
            <a:endParaRPr sz="13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58952" y="4709159"/>
            <a:ext cx="3154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569"/>
                </a:solidFill>
                <a:latin typeface="Segoe UI" panose="020B0502040204020203"/>
              </a:rPr>
              <a:t>Password-gated, founder-facing view across every company, invoice, and payment.</a:t>
            </a:r>
            <a:endParaRPr sz="108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279392" y="4023359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9392" y="4023359"/>
            <a:ext cx="6400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4206239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4E3B"/>
                </a:solidFill>
                <a:latin typeface="Segoe UI" panose="020B0502040204020203"/>
              </a:rPr>
              <a:t>Security by design</a:t>
            </a:r>
            <a:endParaRPr sz="13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35424" y="4709159"/>
            <a:ext cx="3154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569"/>
                </a:solidFill>
                <a:latin typeface="Segoe UI" panose="020B0502040204020203"/>
              </a:rPr>
              <a:t>HMAC-verified WhatsApp webhook, signed short-lived export links, capability-token-gated onboarding.</a:t>
            </a:r>
            <a:endParaRPr sz="108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055864" y="4023359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55864" y="4023359"/>
            <a:ext cx="6400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11896" y="4206239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4E3B"/>
                </a:solidFill>
                <a:latin typeface="Segoe UI" panose="020B0502040204020203"/>
              </a:rPr>
              <a:t>Resumable, correctable setup</a:t>
            </a:r>
            <a:endParaRPr sz="13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311896" y="4709159"/>
            <a:ext cx="3154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569"/>
                </a:solidFill>
                <a:latin typeface="Segoe UI" panose="020B0502040204020203"/>
              </a:rPr>
              <a:t>Progress checklist, restart, and 30+ guided correction commands — nothing is a one-shot, unrecoverable step.</a:t>
            </a:r>
            <a:endParaRPr sz="108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02920" y="6473952"/>
            <a:ext cx="11183112" cy="15240"/>
          </a:xfrm>
          <a:prstGeom prst="rect">
            <a:avLst/>
          </a:prstGeom>
          <a:solidFill>
            <a:srgbClr val="D1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Segoe UI" panose="020B0502040204020203"/>
              </a:rPr>
              <a:t>OpsGenie</a:t>
            </a:r>
            <a:endParaRPr sz="1000" b="1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Segoe UI" panose="020B0502040204020203"/>
              </a:rPr>
              <a:t>10</a:t>
            </a:r>
            <a:endParaRPr sz="1000" b="0" i="0">
              <a:solidFill>
                <a:srgbClr val="475569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4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45720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0B981"/>
                </a:solidFill>
                <a:latin typeface="Segoe UI" panose="020B0502040204020203"/>
              </a:rPr>
              <a:t>UNDER THE HOOD</a:t>
            </a:r>
            <a:endParaRPr sz="1250" b="1" i="0">
              <a:solidFill>
                <a:srgbClr val="10B981"/>
              </a:solidFill>
              <a:latin typeface="Segoe UI" panose="020B0502040204020203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 panose="020B0502040204020203"/>
              </a:rPr>
              <a:t>Engineered like production software, not a demo</a:t>
            </a:r>
            <a:endParaRPr sz="3000" b="1" i="0">
              <a:solidFill>
                <a:srgbClr val="FFFFFF"/>
              </a:solidFill>
              <a:latin typeface="Segoe UI" panose="020B0502040204020203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566160" cy="1417320"/>
          </a:xfrm>
          <a:prstGeom prst="roundRect">
            <a:avLst>
              <a:gd name="adj" fmla="val 10000"/>
            </a:avLst>
          </a:prstGeom>
          <a:solidFill>
            <a:srgbClr val="0B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30552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4D399"/>
                </a:solidFill>
                <a:latin typeface="Segoe UI" panose="020B0502040204020203"/>
              </a:rPr>
              <a:t>17</a:t>
            </a:r>
            <a:endParaRPr sz="3000" b="1" i="0">
              <a:solidFill>
                <a:srgbClr val="34D399"/>
              </a:solidFill>
              <a:latin typeface="Segoe UI" panose="020B0502040204020203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95528" y="2862072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1FAE5"/>
                </a:solidFill>
                <a:latin typeface="Segoe UI" panose="020B0502040204020203"/>
              </a:rPr>
              <a:t>ORM tables</a:t>
            </a:r>
            <a:endParaRPr sz="1200" b="0" i="0">
              <a:solidFill>
                <a:srgbClr val="D1FAE5"/>
              </a:solidFill>
              <a:latin typeface="Segoe UI" panose="020B0502040204020203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297680" y="1965960"/>
            <a:ext cx="3566160" cy="1417320"/>
          </a:xfrm>
          <a:prstGeom prst="roundRect">
            <a:avLst>
              <a:gd name="adj" fmla="val 10000"/>
            </a:avLst>
          </a:prstGeom>
          <a:solidFill>
            <a:srgbClr val="0B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130552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4D399"/>
                </a:solidFill>
                <a:latin typeface="Segoe UI" panose="020B0502040204020203"/>
              </a:rPr>
              <a:t>44</a:t>
            </a:r>
            <a:endParaRPr sz="3000" b="1" i="0">
              <a:solidFill>
                <a:srgbClr val="34D399"/>
              </a:solidFill>
              <a:latin typeface="Segoe UI" panose="020B05020402040202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44568" y="2862072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1FAE5"/>
                </a:solidFill>
                <a:latin typeface="Segoe UI" panose="020B0502040204020203"/>
              </a:rPr>
              <a:t>Alembic migrations</a:t>
            </a:r>
            <a:endParaRPr sz="1200" b="0" i="0">
              <a:solidFill>
                <a:srgbClr val="D1FAE5"/>
              </a:solidFill>
              <a:latin typeface="Segoe UI" panose="020B0502040204020203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046720" y="1965960"/>
            <a:ext cx="3566160" cy="1417320"/>
          </a:xfrm>
          <a:prstGeom prst="roundRect">
            <a:avLst>
              <a:gd name="adj" fmla="val 10000"/>
            </a:avLst>
          </a:prstGeom>
          <a:solidFill>
            <a:srgbClr val="0B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130552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4D399"/>
                </a:solidFill>
                <a:latin typeface="Segoe UI" panose="020B0502040204020203"/>
              </a:rPr>
              <a:t>69</a:t>
            </a:r>
            <a:endParaRPr sz="3000" b="1" i="0">
              <a:solidFill>
                <a:srgbClr val="34D399"/>
              </a:solidFill>
              <a:latin typeface="Segoe UI" panose="020B0502040204020203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293608" y="2862072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1FAE5"/>
                </a:solidFill>
                <a:latin typeface="Segoe UI" panose="020B0502040204020203"/>
              </a:rPr>
              <a:t>test files</a:t>
            </a:r>
            <a:endParaRPr sz="1200" b="0" i="0">
              <a:solidFill>
                <a:srgbClr val="D1FAE5"/>
              </a:solidFill>
              <a:latin typeface="Segoe UI" panose="020B0502040204020203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48640" y="3584448"/>
            <a:ext cx="3566160" cy="1417320"/>
          </a:xfrm>
          <a:prstGeom prst="roundRect">
            <a:avLst>
              <a:gd name="adj" fmla="val 10000"/>
            </a:avLst>
          </a:prstGeom>
          <a:solidFill>
            <a:srgbClr val="0B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749040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4D399"/>
                </a:solidFill>
                <a:latin typeface="Segoe UI" panose="020B0502040204020203"/>
              </a:rPr>
              <a:t>1,002</a:t>
            </a:r>
            <a:endParaRPr sz="3000" b="1" i="0">
              <a:solidFill>
                <a:srgbClr val="34D399"/>
              </a:solidFill>
              <a:latin typeface="Segoe UI" panose="020B0502040204020203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95528" y="448056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1FAE5"/>
                </a:solidFill>
                <a:latin typeface="Segoe UI" panose="020B0502040204020203"/>
              </a:rPr>
              <a:t>automated tests</a:t>
            </a:r>
            <a:endParaRPr sz="1200" b="0" i="0">
              <a:solidFill>
                <a:srgbClr val="D1FAE5"/>
              </a:solidFill>
              <a:latin typeface="Segoe UI" panose="020B0502040204020203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4297680" y="3584448"/>
            <a:ext cx="3566160" cy="1417320"/>
          </a:xfrm>
          <a:prstGeom prst="roundRect">
            <a:avLst>
              <a:gd name="adj" fmla="val 10000"/>
            </a:avLst>
          </a:prstGeom>
          <a:solidFill>
            <a:srgbClr val="0B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3749040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4D399"/>
                </a:solidFill>
                <a:latin typeface="Segoe UI" panose="020B0502040204020203"/>
              </a:rPr>
              <a:t>6</a:t>
            </a:r>
            <a:endParaRPr sz="3000" b="1" i="0">
              <a:solidFill>
                <a:srgbClr val="34D399"/>
              </a:solidFill>
              <a:latin typeface="Segoe UI" panose="020B0502040204020203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544568" y="448056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1FAE5"/>
                </a:solidFill>
                <a:latin typeface="Segoe UI" panose="020B0502040204020203"/>
              </a:rPr>
              <a:t>LLM providers, auto-failover</a:t>
            </a:r>
            <a:endParaRPr sz="1200" b="0" i="0">
              <a:solidFill>
                <a:srgbClr val="D1FAE5"/>
              </a:solidFill>
              <a:latin typeface="Segoe UI" panose="020B0502040204020203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8046720" y="3584448"/>
            <a:ext cx="3566160" cy="1417320"/>
          </a:xfrm>
          <a:prstGeom prst="roundRect">
            <a:avLst>
              <a:gd name="adj" fmla="val 10000"/>
            </a:avLst>
          </a:prstGeom>
          <a:solidFill>
            <a:srgbClr val="0B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3749040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4D399"/>
                </a:solidFill>
                <a:latin typeface="Segoe UI" panose="020B0502040204020203"/>
              </a:rPr>
              <a:t>5</a:t>
            </a:r>
            <a:endParaRPr sz="3000" b="1" i="0">
              <a:solidFill>
                <a:srgbClr val="34D399"/>
              </a:solidFill>
              <a:latin typeface="Segoe UI" panose="020B0502040204020203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293608" y="448056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1FAE5"/>
                </a:solidFill>
                <a:latin typeface="Segoe UI" panose="020B0502040204020203"/>
              </a:rPr>
              <a:t>languages/scripts supported</a:t>
            </a:r>
            <a:endParaRPr sz="1200" b="0" i="0">
              <a:solidFill>
                <a:srgbClr val="D1FAE5"/>
              </a:solidFill>
              <a:latin typeface="Segoe UI" panose="020B0502040204020203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48640" y="5349240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4D399"/>
                </a:solidFill>
                <a:latin typeface="Segoe UI" panose="020B0502040204020203"/>
              </a:rPr>
              <a:t>FastAPI · PostgreSQL (Neon) · Meta WhatsApp Business API · Render (API + scheduler) · Vercel (marketing site) · fpdf2 · APScheduler</a:t>
            </a:r>
            <a:endParaRPr sz="1250" b="0" i="0">
              <a:solidFill>
                <a:srgbClr val="34D399"/>
              </a:solidFill>
              <a:latin typeface="Segoe UI" panose="020B0502040204020203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02920" y="6473952"/>
            <a:ext cx="11183112" cy="15240"/>
          </a:xfrm>
          <a:prstGeom prst="rect">
            <a:avLst/>
          </a:prstGeom>
          <a:solidFill>
            <a:srgbClr val="D1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Segoe UI" panose="020B0502040204020203"/>
              </a:rPr>
              <a:t>OpsGenie</a:t>
            </a:r>
            <a:endParaRPr sz="1000" b="1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Segoe UI" panose="020B0502040204020203"/>
              </a:rPr>
              <a:t>11</a:t>
            </a:r>
            <a:endParaRPr sz="1000" b="0" i="0">
              <a:solidFill>
                <a:srgbClr val="475569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45720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0B981"/>
                </a:solidFill>
                <a:latin typeface="Segoe UI" panose="020B0502040204020203"/>
              </a:rPr>
              <a:t>TRACTION</a:t>
            </a:r>
            <a:endParaRPr sz="1250" b="1" i="0">
              <a:solidFill>
                <a:srgbClr val="10B981"/>
              </a:solidFill>
              <a:latin typeface="Segoe UI" panose="020B0502040204020203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64E3B"/>
                </a:solidFill>
                <a:latin typeface="Segoe UI" panose="020B0502040204020203"/>
              </a:rPr>
              <a:t>Built solo. Shipped in production. Running on a real pilot.</a:t>
            </a:r>
            <a:endParaRPr sz="300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667512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300" b="1" i="0">
                <a:solidFill>
                  <a:srgbClr val="10B981"/>
                </a:solidFill>
                <a:latin typeface="Segoe UI" panose="020B0502040204020203"/>
              </a:rPr>
              <a:t>✓  </a:t>
            </a:r>
            <a:r>
              <a:rPr sz="1300" b="0" i="0">
                <a:solidFill>
                  <a:srgbClr val="0F172A"/>
                </a:solidFill>
                <a:latin typeface="Segoe UI" panose="020B0502040204020203"/>
              </a:rPr>
              <a:t>Live in production for a real distributor pilot on WhatsApp — not a sandboxed demo.</a:t>
            </a:r>
            <a:endParaRPr sz="1300" b="0" i="0">
              <a:solidFill>
                <a:srgbClr val="0F172A"/>
              </a:solidFill>
              <a:latin typeface="Segoe UI" panose="020B0502040204020203"/>
            </a:endParaRP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300" b="1" i="0">
                <a:solidFill>
                  <a:srgbClr val="10B981"/>
                </a:solidFill>
                <a:latin typeface="Segoe UI" panose="020B0502040204020203"/>
              </a:rPr>
              <a:t>✓  </a:t>
            </a:r>
            <a:r>
              <a:rPr sz="1300" b="0" i="0">
                <a:solidFill>
                  <a:srgbClr val="0F172A"/>
                </a:solidFill>
                <a:latin typeface="Segoe UI" panose="020B0502040204020203"/>
              </a:rPr>
              <a:t>Every roadmap version shipped: V0.0 Proof of Value → V0.1 Operational Product → V0.2 Source of Truth → V0.3 Intelligence &amp; Expansion — all complete.</a:t>
            </a:r>
            <a:endParaRPr sz="1300" b="0" i="0">
              <a:solidFill>
                <a:srgbClr val="0F172A"/>
              </a:solidFill>
              <a:latin typeface="Segoe UI" panose="020B0502040204020203"/>
            </a:endParaRP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300" b="1" i="0">
                <a:solidFill>
                  <a:srgbClr val="10B981"/>
                </a:solidFill>
                <a:latin typeface="Segoe UI" panose="020B0502040204020203"/>
              </a:rPr>
              <a:t>✓  </a:t>
            </a:r>
            <a:r>
              <a:rPr sz="1300" b="0" i="0">
                <a:solidFill>
                  <a:srgbClr val="0F172A"/>
                </a:solidFill>
                <a:latin typeface="Segoe UI" panose="020B0502040204020203"/>
              </a:rPr>
              <a:t>A full whole-codebase audit (≈32k LOC, 4 parallel domain reviews) found and fixed 8 real production-grade bugs — each shipped with a regression test proven to fail without the fix.</a:t>
            </a:r>
            <a:endParaRPr sz="1300" b="0" i="0">
              <a:solidFill>
                <a:srgbClr val="0F172A"/>
              </a:solidFill>
              <a:latin typeface="Segoe UI" panose="020B0502040204020203"/>
            </a:endParaRP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300" b="1" i="0">
                <a:solidFill>
                  <a:srgbClr val="10B981"/>
                </a:solidFill>
                <a:latin typeface="Segoe UI" panose="020B0502040204020203"/>
              </a:rPr>
              <a:t>✓  </a:t>
            </a:r>
            <a:r>
              <a:rPr sz="1300" b="0" i="0">
                <a:solidFill>
                  <a:srgbClr val="0F172A"/>
                </a:solidFill>
                <a:latin typeface="Segoe UI" panose="020B0502040204020203"/>
              </a:rPr>
              <a:t>Live incidents diagnosed and resolved directly from the founder’s own WhatsApp screenshots while distributors were actively using it.</a:t>
            </a:r>
            <a:endParaRPr sz="1300" b="0" i="0">
              <a:solidFill>
                <a:srgbClr val="0F172A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452360" y="1828800"/>
            <a:ext cx="4206240" cy="4160520"/>
          </a:xfrm>
          <a:prstGeom prst="roundRect">
            <a:avLst>
              <a:gd name="adj" fmla="val 6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79" y="20574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64E3B"/>
                </a:solidFill>
                <a:latin typeface="Segoe UI" panose="020B0502040204020203"/>
              </a:rPr>
              <a:t>Version roadmap</a:t>
            </a:r>
            <a:endParaRPr sz="130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8" name="Oval 7"/>
          <p:cNvSpPr/>
          <p:nvPr/>
        </p:nvSpPr>
        <p:spPr>
          <a:xfrm>
            <a:off x="7726679" y="25511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2487168"/>
            <a:ext cx="3566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0B981"/>
                </a:solidFill>
                <a:latin typeface="Segoe UI" panose="020B0502040204020203"/>
              </a:rPr>
              <a:t>V0.0  </a:t>
            </a:r>
            <a:r>
              <a:rPr sz="1150" b="0" i="0">
                <a:solidFill>
                  <a:srgbClr val="0F172A"/>
                </a:solidFill>
                <a:latin typeface="Segoe UI" panose="020B0502040204020203"/>
              </a:rPr>
              <a:t>Proof of Value</a:t>
            </a:r>
            <a:endParaRPr sz="1150" b="0" i="0">
              <a:solidFill>
                <a:srgbClr val="0F172A"/>
              </a:solidFill>
              <a:latin typeface="Segoe UI" panose="020B0502040204020203"/>
            </a:endParaRPr>
          </a:p>
        </p:txBody>
      </p:sp>
      <p:sp>
        <p:nvSpPr>
          <p:cNvPr id="10" name="Oval 9"/>
          <p:cNvSpPr/>
          <p:nvPr/>
        </p:nvSpPr>
        <p:spPr>
          <a:xfrm>
            <a:off x="7726679" y="3209544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3145536"/>
            <a:ext cx="3566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0B981"/>
                </a:solidFill>
                <a:latin typeface="Segoe UI" panose="020B0502040204020203"/>
              </a:rPr>
              <a:t>V0.1  </a:t>
            </a:r>
            <a:r>
              <a:rPr sz="1150" b="0" i="0">
                <a:solidFill>
                  <a:srgbClr val="0F172A"/>
                </a:solidFill>
                <a:latin typeface="Segoe UI" panose="020B0502040204020203"/>
              </a:rPr>
              <a:t>Operational Product</a:t>
            </a:r>
            <a:endParaRPr sz="1150" b="0" i="0">
              <a:solidFill>
                <a:srgbClr val="0F172A"/>
              </a:solidFill>
              <a:latin typeface="Segoe UI" panose="020B0502040204020203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7726679" y="386791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3803904"/>
            <a:ext cx="3566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0B981"/>
                </a:solidFill>
                <a:latin typeface="Segoe UI" panose="020B0502040204020203"/>
              </a:rPr>
              <a:t>V0.2  </a:t>
            </a:r>
            <a:r>
              <a:rPr sz="1150" b="0" i="0">
                <a:solidFill>
                  <a:srgbClr val="0F172A"/>
                </a:solidFill>
                <a:latin typeface="Segoe UI" panose="020B0502040204020203"/>
              </a:rPr>
              <a:t>Source of Truth</a:t>
            </a:r>
            <a:endParaRPr sz="1150" b="0" i="0">
              <a:solidFill>
                <a:srgbClr val="0F172A"/>
              </a:solidFill>
              <a:latin typeface="Segoe UI" panose="020B0502040204020203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7726679" y="4526280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4462272"/>
            <a:ext cx="3566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0B981"/>
                </a:solidFill>
                <a:latin typeface="Segoe UI" panose="020B0502040204020203"/>
              </a:rPr>
              <a:t>V0.3  </a:t>
            </a:r>
            <a:r>
              <a:rPr sz="1150" b="0" i="0">
                <a:solidFill>
                  <a:srgbClr val="0F172A"/>
                </a:solidFill>
                <a:latin typeface="Segoe UI" panose="020B0502040204020203"/>
              </a:rPr>
              <a:t>Intelligence &amp; Expansion</a:t>
            </a:r>
            <a:endParaRPr sz="1150" b="0" i="0">
              <a:solidFill>
                <a:srgbClr val="0F172A"/>
              </a:solidFill>
              <a:latin typeface="Segoe UI" panose="020B0502040204020203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7726679" y="518464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5120640"/>
            <a:ext cx="3566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0B981"/>
                </a:solidFill>
                <a:latin typeface="Segoe UI" panose="020B0502040204020203"/>
              </a:rPr>
              <a:t>Post-SPEC  </a:t>
            </a:r>
            <a:r>
              <a:rPr sz="1150" b="0" i="0">
                <a:solidFill>
                  <a:srgbClr val="0F172A"/>
                </a:solidFill>
                <a:latin typeface="Segoe UI" panose="020B0502040204020203"/>
              </a:rPr>
              <a:t>Onboarding, dashboard, multilingual, OCR, forecasts</a:t>
            </a:r>
            <a:endParaRPr sz="1150" b="0" i="0">
              <a:solidFill>
                <a:srgbClr val="0F172A"/>
              </a:solidFill>
              <a:latin typeface="Segoe UI" panose="020B0502040204020203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2920" y="6473952"/>
            <a:ext cx="11183112" cy="15240"/>
          </a:xfrm>
          <a:prstGeom prst="rect">
            <a:avLst/>
          </a:prstGeom>
          <a:solidFill>
            <a:srgbClr val="D1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Segoe UI" panose="020B0502040204020203"/>
              </a:rPr>
              <a:t>OpsGenie</a:t>
            </a:r>
            <a:endParaRPr sz="1000" b="1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Segoe UI" panose="020B0502040204020203"/>
              </a:rPr>
              <a:t>12</a:t>
            </a:r>
            <a:endParaRPr sz="1000" b="0" i="0">
              <a:solidFill>
                <a:srgbClr val="475569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45720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0B981"/>
                </a:solidFill>
                <a:latin typeface="Segoe UI" panose="020B0502040204020203"/>
              </a:rPr>
              <a:t>MARKET</a:t>
            </a:r>
            <a:endParaRPr sz="1250" b="1" i="0">
              <a:solidFill>
                <a:srgbClr val="10B981"/>
              </a:solidFill>
              <a:latin typeface="Segoe UI" panose="020B0502040204020203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64E3B"/>
                </a:solidFill>
                <a:latin typeface="Segoe UI" panose="020B0502040204020203"/>
              </a:rPr>
              <a:t>A large, underserved, WhatsApp-native customer base</a:t>
            </a:r>
            <a:endParaRPr sz="300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60350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64E3B"/>
                </a:solidFill>
                <a:latin typeface="Segoe UI" panose="020B0502040204020203"/>
              </a:rPr>
              <a:t>Who we serve</a:t>
            </a:r>
            <a:endParaRPr sz="1500" b="1" i="0">
              <a:solidFill>
                <a:srgbClr val="064E3B"/>
              </a:solidFill>
              <a:latin typeface="Segoe UI" panose="020B0502040204020203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 panose="020B0502040204020203"/>
              </a:rPr>
              <a:t>FMCG, pharma, poultry/agri and wholesale B2B distributors already running Tally or Vyapar, managing 20–50 dealer accounts, facing cash-flow surprises monthly or more often.</a:t>
            </a:r>
            <a:endParaRPr sz="1250" b="0" i="0">
              <a:solidFill>
                <a:srgbClr val="475569"/>
              </a:solidFill>
              <a:latin typeface="Segoe UI" panose="020B0502040204020203"/>
            </a:endParaRPr>
          </a:p>
          <a:p>
            <a:pPr algn="l">
              <a:spcBef>
                <a:spcPts val="1600"/>
              </a:spcBef>
              <a:spcAft>
                <a:spcPts val="400"/>
              </a:spcAft>
            </a:pPr>
            <a:r>
              <a:rPr sz="1500" b="1" i="0">
                <a:solidFill>
                  <a:srgbClr val="064E3B"/>
                </a:solidFill>
                <a:latin typeface="Segoe UI" panose="020B0502040204020203"/>
              </a:rPr>
              <a:t>Why WhatsApp is the wedge</a:t>
            </a:r>
            <a:endParaRPr sz="1500" b="1" i="0">
              <a:solidFill>
                <a:srgbClr val="064E3B"/>
              </a:solidFill>
              <a:latin typeface="Segoe UI" panose="020B0502040204020203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 panose="020B0502040204020203"/>
              </a:rPr>
              <a:t>It's already their primary business channel — no app to install, no login to remember, no training session required.</a:t>
            </a:r>
            <a:endParaRPr sz="1250" b="0" i="0">
              <a:solidFill>
                <a:srgbClr val="475569"/>
              </a:solidFill>
              <a:latin typeface="Segoe UI" panose="020B0502040204020203"/>
            </a:endParaRPr>
          </a:p>
          <a:p>
            <a:pPr algn="l">
              <a:spcBef>
                <a:spcPts val="1600"/>
              </a:spcBef>
              <a:spcAft>
                <a:spcPts val="400"/>
              </a:spcAft>
            </a:pPr>
            <a:r>
              <a:rPr sz="1500" b="1" i="0">
                <a:solidFill>
                  <a:srgbClr val="064E3B"/>
                </a:solidFill>
                <a:latin typeface="Segoe UI" panose="020B0502040204020203"/>
              </a:rPr>
              <a:t>Why now</a:t>
            </a:r>
            <a:endParaRPr sz="1500" b="1" i="0">
              <a:solidFill>
                <a:srgbClr val="064E3B"/>
              </a:solidFill>
              <a:latin typeface="Segoe UI" panose="020B0502040204020203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 panose="020B0502040204020203"/>
              </a:rPr>
              <a:t>WhatsApp Business API access, capable low-cost LLMs, and India's UPI/GST-driven digitization of small-business records have only recently made this combination viable.</a:t>
            </a:r>
            <a:endParaRPr sz="125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903720" y="1828800"/>
            <a:ext cx="4754880" cy="4160520"/>
          </a:xfrm>
          <a:prstGeom prst="roundRect">
            <a:avLst>
              <a:gd name="adj" fmla="val 6000"/>
            </a:avLst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78040" y="2057400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4D399"/>
                </a:solidFill>
                <a:latin typeface="Segoe UI" panose="020B0502040204020203"/>
              </a:rPr>
              <a:t>Sizing (illustrative — refine before pitching)</a:t>
            </a:r>
            <a:endParaRPr sz="1200" b="1" i="0">
              <a:solidFill>
                <a:srgbClr val="34D399"/>
              </a:solidFill>
              <a:latin typeface="Segoe UI" panose="020B0502040204020203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178040" y="2606040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1FAE5"/>
                </a:solidFill>
                <a:latin typeface="Segoe UI" panose="020B0502040204020203"/>
              </a:rPr>
              <a:t>Tally-using businesses in India</a:t>
            </a:r>
            <a:endParaRPr sz="1100" b="0" i="0">
              <a:solidFill>
                <a:srgbClr val="D1FAE5"/>
              </a:solidFill>
              <a:latin typeface="Segoe UI" panose="020B0502040204020203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178040" y="2898648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4D399"/>
                </a:solidFill>
                <a:latin typeface="Segoe UI" panose="020B0502040204020203"/>
              </a:rPr>
              <a:t>2M+ (public Tally figure)</a:t>
            </a:r>
            <a:endParaRPr sz="1350" b="1" i="0">
              <a:solidFill>
                <a:srgbClr val="34D399"/>
              </a:solidFill>
              <a:latin typeface="Segoe UI" panose="020B05020402040202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178040" y="3429000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1FAE5"/>
                </a:solidFill>
                <a:latin typeface="Segoe UI" panose="020B0502040204020203"/>
              </a:rPr>
              <a:t>Est. B2B distributors, target profile</a:t>
            </a:r>
            <a:endParaRPr sz="1100" b="0" i="0">
              <a:solidFill>
                <a:srgbClr val="D1FAE5"/>
              </a:solidFill>
              <a:latin typeface="Segoe UI" panose="020B0502040204020203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178040" y="3721608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D97706"/>
                </a:solidFill>
                <a:latin typeface="Segoe UI" panose="020B0502040204020203"/>
              </a:rPr>
              <a:t>[X hundred thousand — size this]</a:t>
            </a:r>
            <a:endParaRPr sz="1350" b="1" i="0">
              <a:solidFill>
                <a:srgbClr val="D97706"/>
              </a:solidFill>
              <a:latin typeface="Segoe UI" panose="020B0502040204020203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178040" y="4251960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1FAE5"/>
                </a:solidFill>
                <a:latin typeface="Segoe UI" panose="020B0502040204020203"/>
              </a:rPr>
              <a:t>SAM (reachable via WhatsApp, GST-registered)</a:t>
            </a:r>
            <a:endParaRPr sz="1100" b="0" i="0">
              <a:solidFill>
                <a:srgbClr val="D1FAE5"/>
              </a:solidFill>
              <a:latin typeface="Segoe UI" panose="020B0502040204020203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178040" y="4544568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D97706"/>
                </a:solidFill>
                <a:latin typeface="Segoe UI" panose="020B0502040204020203"/>
              </a:rPr>
              <a:t>[refine]</a:t>
            </a:r>
            <a:endParaRPr sz="1350" b="1" i="0">
              <a:solidFill>
                <a:srgbClr val="D97706"/>
              </a:solidFill>
              <a:latin typeface="Segoe UI" panose="020B05020402040202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178040" y="5074920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1FAE5"/>
                </a:solidFill>
                <a:latin typeface="Segoe UI" panose="020B0502040204020203"/>
              </a:rPr>
              <a:t>SOM (Yr 1 pilot geography)</a:t>
            </a:r>
            <a:endParaRPr sz="1100" b="0" i="0">
              <a:solidFill>
                <a:srgbClr val="D1FAE5"/>
              </a:solidFill>
              <a:latin typeface="Segoe UI" panose="020B0502040204020203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178040" y="5367528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D97706"/>
                </a:solidFill>
                <a:latin typeface="Segoe UI" panose="020B0502040204020203"/>
              </a:rPr>
              <a:t>[refine]</a:t>
            </a:r>
            <a:endParaRPr sz="1350" b="1" i="0">
              <a:solidFill>
                <a:srgbClr val="D97706"/>
              </a:solidFill>
              <a:latin typeface="Segoe UI" panose="020B0502040204020203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02920" y="6473952"/>
            <a:ext cx="11183112" cy="15240"/>
          </a:xfrm>
          <a:prstGeom prst="rect">
            <a:avLst/>
          </a:prstGeom>
          <a:solidFill>
            <a:srgbClr val="D1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Segoe UI" panose="020B0502040204020203"/>
              </a:rPr>
              <a:t>OpsGenie</a:t>
            </a:r>
            <a:endParaRPr sz="1000" b="1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Segoe UI" panose="020B0502040204020203"/>
              </a:rPr>
              <a:t>13</a:t>
            </a:r>
            <a:endParaRPr sz="1000" b="0" i="0">
              <a:solidFill>
                <a:srgbClr val="475569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45720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0B981"/>
                </a:solidFill>
                <a:latin typeface="Segoe UI" panose="020B0502040204020203"/>
              </a:rPr>
              <a:t>BUSINESS MODEL</a:t>
            </a:r>
            <a:endParaRPr sz="1250" b="1" i="0">
              <a:solidFill>
                <a:srgbClr val="10B981"/>
              </a:solidFill>
              <a:latin typeface="Segoe UI" panose="020B0502040204020203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64E3B"/>
                </a:solidFill>
                <a:latin typeface="Segoe UI" panose="020B0502040204020203"/>
              </a:rPr>
              <a:t>Simple SaaS, distribution through the network already in the chat</a:t>
            </a:r>
            <a:endParaRPr sz="300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965960"/>
            <a:ext cx="3611880" cy="265176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3063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64E3B"/>
                </a:solidFill>
                <a:latin typeface="Segoe UI" panose="020B0502040204020203"/>
              </a:rPr>
              <a:t>Subscription</a:t>
            </a:r>
            <a:endParaRPr sz="15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77240" y="2743200"/>
            <a:ext cx="30632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Segoe UI" panose="020B0502040204020203"/>
              </a:rPr>
              <a:t>₹999/month per distributor (pilot pricing). Founder-activated today; self-serve payment is the next infrastructure step.</a:t>
            </a:r>
            <a:endParaRPr sz="120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279392" y="1965960"/>
            <a:ext cx="3611880" cy="265176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2194560"/>
            <a:ext cx="3063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64E3B"/>
                </a:solidFill>
                <a:latin typeface="Segoe UI" panose="020B0502040204020203"/>
              </a:rPr>
              <a:t>Low CAC channel</a:t>
            </a:r>
            <a:endParaRPr sz="15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53712" y="2743200"/>
            <a:ext cx="30632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Segoe UI" panose="020B0502040204020203"/>
              </a:rPr>
              <a:t>WhatsApp is both the product and the distribution surface — a distributor’s own dealer/supplier network sees the product working.</a:t>
            </a:r>
            <a:endParaRPr sz="120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055864" y="1965960"/>
            <a:ext cx="3611880" cy="265176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30184" y="2194560"/>
            <a:ext cx="3063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64E3B"/>
                </a:solidFill>
                <a:latin typeface="Segoe UI" panose="020B0502040204020203"/>
              </a:rPr>
              <a:t>Expansion path</a:t>
            </a:r>
            <a:endParaRPr sz="155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330184" y="2743200"/>
            <a:ext cx="30632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Segoe UI" panose="020B0502040204020203"/>
              </a:rPr>
              <a:t>Land with one distributor → their accountant/operator becomes the champion → word-of-mouth within tight-knit distributor trade circles.</a:t>
            </a:r>
            <a:endParaRPr sz="1200" b="0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02920" y="4937760"/>
            <a:ext cx="11155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475569"/>
                </a:solidFill>
                <a:latin typeface="Segoe UI" panose="020B0502040204020203"/>
              </a:rPr>
              <a:t>Known, deliberately-deferred gap: no payment gateway yet — subscription activation is manual today (correct sequencing for pilot validation, per this project’s phase-discipline principle: prove the product before automating billing for it).</a:t>
            </a:r>
            <a:endParaRPr sz="1150" b="0" i="1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2920" y="6473952"/>
            <a:ext cx="11183112" cy="15240"/>
          </a:xfrm>
          <a:prstGeom prst="rect">
            <a:avLst/>
          </a:prstGeom>
          <a:solidFill>
            <a:srgbClr val="D1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Segoe UI" panose="020B0502040204020203"/>
              </a:rPr>
              <a:t>OpsGenie</a:t>
            </a:r>
            <a:endParaRPr sz="1000" b="1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Segoe UI" panose="020B0502040204020203"/>
              </a:rPr>
              <a:t>14</a:t>
            </a:r>
            <a:endParaRPr sz="1000" b="0" i="0">
              <a:solidFill>
                <a:srgbClr val="475569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45720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0B981"/>
                </a:solidFill>
                <a:latin typeface="Segoe UI" panose="020B0502040204020203"/>
              </a:rPr>
              <a:t>WHAT’S NEXT</a:t>
            </a:r>
            <a:endParaRPr sz="1250" b="1" i="0">
              <a:solidFill>
                <a:srgbClr val="10B981"/>
              </a:solidFill>
              <a:latin typeface="Segoe UI" panose="020B0502040204020203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64E3B"/>
                </a:solidFill>
                <a:latin typeface="Segoe UI" panose="020B0502040204020203"/>
              </a:rPr>
              <a:t>Harden for scale, then widen the funnel</a:t>
            </a:r>
            <a:endParaRPr sz="3000" b="1" i="0">
              <a:solidFill>
                <a:srgbClr val="064E3B"/>
              </a:solidFill>
              <a:latin typeface="Segoe UI" panose="020B0502040204020203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874519"/>
            <a:ext cx="3611880" cy="393192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74519"/>
            <a:ext cx="3611880" cy="566928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9339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 panose="020B0502040204020203"/>
              </a:rPr>
              <a:t>Harden for scale</a:t>
            </a:r>
            <a:endParaRPr sz="1350" b="1" i="0">
              <a:solidFill>
                <a:srgbClr val="FFFFFF"/>
              </a:solidFill>
              <a:latin typeface="Segoe UI" panose="020B0502040204020203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77240" y="2651760"/>
            <a:ext cx="310896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180" b="1" i="0">
                <a:solidFill>
                  <a:srgbClr val="10B981"/>
                </a:solidFill>
                <a:latin typeface="Segoe UI" panose="020B0502040204020203"/>
              </a:rPr>
              <a:t>•  </a:t>
            </a:r>
            <a:r>
              <a:rPr sz="1180" b="0" i="0">
                <a:solidFill>
                  <a:srgbClr val="0F172A"/>
                </a:solidFill>
                <a:latin typeface="Segoe UI" panose="020B0502040204020203"/>
              </a:rPr>
              <a:t>CI pipeline running the full suite on every change</a:t>
            </a:r>
            <a:endParaRPr sz="1180" b="0" i="0">
              <a:solidFill>
                <a:srgbClr val="0F172A"/>
              </a:solidFill>
              <a:latin typeface="Segoe UI" panose="020B0502040204020203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180" b="1" i="0">
                <a:solidFill>
                  <a:srgbClr val="10B981"/>
                </a:solidFill>
                <a:latin typeface="Segoe UI" panose="020B0502040204020203"/>
              </a:rPr>
              <a:t>•  </a:t>
            </a:r>
            <a:r>
              <a:rPr sz="1180" b="0" i="0">
                <a:solidFill>
                  <a:srgbClr val="0F172A"/>
                </a:solidFill>
                <a:latin typeface="Segoe UI" panose="020B0502040204020203"/>
              </a:rPr>
              <a:t>LLM provider timeouts + scheduler catch-up</a:t>
            </a:r>
            <a:endParaRPr sz="1180" b="0" i="0">
              <a:solidFill>
                <a:srgbClr val="0F172A"/>
              </a:solidFill>
              <a:latin typeface="Segoe UI" panose="020B0502040204020203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180" b="1" i="0">
                <a:solidFill>
                  <a:srgbClr val="10B981"/>
                </a:solidFill>
                <a:latin typeface="Segoe UI" panose="020B0502040204020203"/>
              </a:rPr>
              <a:t>•  </a:t>
            </a:r>
            <a:r>
              <a:rPr sz="1180" b="0" i="0">
                <a:solidFill>
                  <a:srgbClr val="0F172A"/>
                </a:solidFill>
                <a:latin typeface="Segoe UI" panose="020B0502040204020203"/>
              </a:rPr>
              <a:t>Security hardening (rate limiting, session expiry)</a:t>
            </a:r>
            <a:endParaRPr sz="1180" b="0" i="0">
              <a:solidFill>
                <a:srgbClr val="0F172A"/>
              </a:solidFill>
              <a:latin typeface="Segoe UI" panose="020B0502040204020203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279392" y="1874519"/>
            <a:ext cx="3611880" cy="393192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874519"/>
            <a:ext cx="3611880" cy="566928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7992" y="199339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 panose="020B0502040204020203"/>
              </a:rPr>
              <a:t>Widen the product</a:t>
            </a:r>
            <a:endParaRPr sz="1350" b="1" i="0">
              <a:solidFill>
                <a:srgbClr val="FFFFFF"/>
              </a:solidFill>
              <a:latin typeface="Segoe UI" panose="020B0502040204020203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53712" y="2651760"/>
            <a:ext cx="310896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180" b="1" i="0">
                <a:solidFill>
                  <a:srgbClr val="10B981"/>
                </a:solidFill>
                <a:latin typeface="Segoe UI" panose="020B0502040204020203"/>
              </a:rPr>
              <a:t>•  </a:t>
            </a:r>
            <a:r>
              <a:rPr sz="1180" b="0" i="0">
                <a:solidFill>
                  <a:srgbClr val="0F172A"/>
                </a:solidFill>
                <a:latin typeface="Segoe UI" panose="020B0502040204020203"/>
              </a:rPr>
              <a:t>Voice notes (low-literacy operators)</a:t>
            </a:r>
            <a:endParaRPr sz="1180" b="0" i="0">
              <a:solidFill>
                <a:srgbClr val="0F172A"/>
              </a:solidFill>
              <a:latin typeface="Segoe UI" panose="020B0502040204020203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180" b="1" i="0">
                <a:solidFill>
                  <a:srgbClr val="10B981"/>
                </a:solidFill>
                <a:latin typeface="Segoe UI" panose="020B0502040204020203"/>
              </a:rPr>
              <a:t>•  </a:t>
            </a:r>
            <a:r>
              <a:rPr sz="1180" b="0" i="0">
                <a:solidFill>
                  <a:srgbClr val="0F172A"/>
                </a:solidFill>
                <a:latin typeface="Segoe UI" panose="020B0502040204020203"/>
              </a:rPr>
              <a:t>Self-serve payment gateway</a:t>
            </a:r>
            <a:endParaRPr sz="1180" b="0" i="0">
              <a:solidFill>
                <a:srgbClr val="0F172A"/>
              </a:solidFill>
              <a:latin typeface="Segoe UI" panose="020B0502040204020203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180" b="1" i="0">
                <a:solidFill>
                  <a:srgbClr val="10B981"/>
                </a:solidFill>
                <a:latin typeface="Segoe UI" panose="020B0502040204020203"/>
              </a:rPr>
              <a:t>•  </a:t>
            </a:r>
            <a:r>
              <a:rPr sz="1180" b="0" i="0">
                <a:solidFill>
                  <a:srgbClr val="0F172A"/>
                </a:solidFill>
                <a:latin typeface="Segoe UI" panose="020B0502040204020203"/>
              </a:rPr>
              <a:t>GSTR-filing-ready export tier</a:t>
            </a:r>
            <a:endParaRPr sz="1180" b="0" i="0">
              <a:solidFill>
                <a:srgbClr val="0F172A"/>
              </a:solidFill>
              <a:latin typeface="Segoe UI" panose="020B0502040204020203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055864" y="1874519"/>
            <a:ext cx="3611880" cy="3931920"/>
          </a:xfrm>
          <a:prstGeom prst="roundRect">
            <a:avLst>
              <a:gd name="adj" fmla="val 7000"/>
            </a:avLst>
          </a:prstGeom>
          <a:solidFill>
            <a:srgbClr val="F0FDF9"/>
          </a:solidFill>
          <a:ln w="12700">
            <a:solidFill>
              <a:srgbClr val="D1F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55864" y="1874519"/>
            <a:ext cx="3611880" cy="566928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199339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 panose="020B0502040204020203"/>
              </a:rPr>
              <a:t>Grow the pilot base</a:t>
            </a:r>
            <a:endParaRPr sz="1350" b="1" i="0">
              <a:solidFill>
                <a:srgbClr val="FFFFFF"/>
              </a:solidFill>
              <a:latin typeface="Segoe UI" panose="020B0502040204020203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330184" y="2651760"/>
            <a:ext cx="310896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180" b="1" i="0">
                <a:solidFill>
                  <a:srgbClr val="10B981"/>
                </a:solidFill>
                <a:latin typeface="Segoe UI" panose="020B0502040204020203"/>
              </a:rPr>
              <a:t>•  </a:t>
            </a:r>
            <a:r>
              <a:rPr sz="1180" b="0" i="0">
                <a:solidFill>
                  <a:srgbClr val="0F172A"/>
                </a:solidFill>
                <a:latin typeface="Segoe UI" panose="020B0502040204020203"/>
              </a:rPr>
              <a:t>Formalize the current pilot into a case study</a:t>
            </a:r>
            <a:endParaRPr sz="1180" b="0" i="0">
              <a:solidFill>
                <a:srgbClr val="0F172A"/>
              </a:solidFill>
              <a:latin typeface="Segoe UI" panose="020B0502040204020203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180" b="1" i="0">
                <a:solidFill>
                  <a:srgbClr val="10B981"/>
                </a:solidFill>
                <a:latin typeface="Segoe UI" panose="020B0502040204020203"/>
              </a:rPr>
              <a:t>•  </a:t>
            </a:r>
            <a:r>
              <a:rPr sz="1180" b="0" i="0">
                <a:solidFill>
                  <a:srgbClr val="0F172A"/>
                </a:solidFill>
                <a:latin typeface="Segoe UI" panose="020B0502040204020203"/>
              </a:rPr>
              <a:t>Onboard the next cohort of distributors</a:t>
            </a:r>
            <a:endParaRPr sz="1180" b="0" i="0">
              <a:solidFill>
                <a:srgbClr val="0F172A"/>
              </a:solidFill>
              <a:latin typeface="Segoe UI" panose="020B0502040204020203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180" b="1" i="0">
                <a:solidFill>
                  <a:srgbClr val="10B981"/>
                </a:solidFill>
                <a:latin typeface="Segoe UI" panose="020B0502040204020203"/>
              </a:rPr>
              <a:t>•  </a:t>
            </a:r>
            <a:r>
              <a:rPr sz="1180" b="0" i="0">
                <a:solidFill>
                  <a:srgbClr val="0F172A"/>
                </a:solidFill>
                <a:latin typeface="Segoe UI" panose="020B0502040204020203"/>
              </a:rPr>
              <a:t>Meta-approved marketing/reminder templates</a:t>
            </a:r>
            <a:endParaRPr sz="1180" b="0" i="0">
              <a:solidFill>
                <a:srgbClr val="0F172A"/>
              </a:solidFill>
              <a:latin typeface="Segoe UI" panose="020B0502040204020203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2920" y="6473952"/>
            <a:ext cx="11183112" cy="15240"/>
          </a:xfrm>
          <a:prstGeom prst="rect">
            <a:avLst/>
          </a:prstGeom>
          <a:solidFill>
            <a:srgbClr val="D1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Segoe UI" panose="020B0502040204020203"/>
              </a:rPr>
              <a:t>OpsGenie</a:t>
            </a:r>
            <a:endParaRPr sz="1000" b="1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Segoe UI" panose="020B0502040204020203"/>
              </a:rPr>
              <a:t>15</a:t>
            </a:r>
            <a:endParaRPr sz="1000" b="0" i="0">
              <a:solidFill>
                <a:srgbClr val="475569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4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45720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0B981"/>
                </a:solidFill>
                <a:latin typeface="Segoe UI" panose="020B0502040204020203"/>
              </a:rPr>
              <a:t>THE ASK</a:t>
            </a:r>
            <a:endParaRPr sz="1250" b="1" i="0">
              <a:solidFill>
                <a:srgbClr val="10B981"/>
              </a:solidFill>
              <a:latin typeface="Segoe UI" panose="020B0502040204020203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 panose="020B0502040204020203"/>
              </a:rPr>
              <a:t>[Placeholder — fill in before presenting]</a:t>
            </a:r>
            <a:endParaRPr sz="3000" b="1" i="0">
              <a:solidFill>
                <a:srgbClr val="FFFFFF"/>
              </a:solidFill>
              <a:latin typeface="Segoe UI" panose="020B0502040204020203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920240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34D399"/>
                </a:solidFill>
                <a:latin typeface="Segoe UI" panose="020B0502040204020203"/>
              </a:rPr>
              <a:t>Raising ₹[X] to fund the next [12/18] months</a:t>
            </a:r>
            <a:endParaRPr sz="2400" b="1" i="0">
              <a:solidFill>
                <a:srgbClr val="34D399"/>
              </a:solidFill>
              <a:latin typeface="Segoe UI" panose="020B05020402040202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2880360"/>
            <a:ext cx="1051560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 i="0">
                <a:solidFill>
                  <a:srgbClr val="34D399"/>
                </a:solidFill>
                <a:latin typeface="Segoe UI" panose="020B0502040204020203"/>
              </a:rPr>
              <a:t>▸  </a:t>
            </a:r>
            <a:r>
              <a:rPr sz="1400" b="0" i="0">
                <a:solidFill>
                  <a:srgbClr val="EAFBF3"/>
                </a:solidFill>
                <a:latin typeface="Segoe UI" panose="020B0502040204020203"/>
              </a:rPr>
              <a:t>[N] engineering hires to build CI, harden scheduling/security, and ship the next feature tier</a:t>
            </a:r>
            <a:endParaRPr sz="1400" b="0" i="0">
              <a:solidFill>
                <a:srgbClr val="EAFBF3"/>
              </a:solidFill>
              <a:latin typeface="Segoe UI" panose="020B0502040204020203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 i="0">
                <a:solidFill>
                  <a:srgbClr val="34D399"/>
                </a:solidFill>
                <a:latin typeface="Segoe UI" panose="020B0502040204020203"/>
              </a:rPr>
              <a:t>▸  </a:t>
            </a:r>
            <a:r>
              <a:rPr sz="1400" b="0" i="0">
                <a:solidFill>
                  <a:srgbClr val="EAFBF3"/>
                </a:solidFill>
                <a:latin typeface="Segoe UI" panose="020B0502040204020203"/>
              </a:rPr>
              <a:t>Go-to-market into [N] additional pilot distributors across [geography/vertical]</a:t>
            </a:r>
            <a:endParaRPr sz="1400" b="0" i="0">
              <a:solidFill>
                <a:srgbClr val="EAFBF3"/>
              </a:solidFill>
              <a:latin typeface="Segoe UI" panose="020B0502040204020203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 i="0">
                <a:solidFill>
                  <a:srgbClr val="34D399"/>
                </a:solidFill>
                <a:latin typeface="Segoe UI" panose="020B0502040204020203"/>
              </a:rPr>
              <a:t>▸  </a:t>
            </a:r>
            <a:r>
              <a:rPr sz="1400" b="0" i="0">
                <a:solidFill>
                  <a:srgbClr val="EAFBF3"/>
                </a:solidFill>
                <a:latin typeface="Segoe UI" panose="020B0502040204020203"/>
              </a:rPr>
              <a:t>Meta template approvals + WhatsApp Business API scale-up costs</a:t>
            </a:r>
            <a:endParaRPr sz="1400" b="0" i="0">
              <a:solidFill>
                <a:srgbClr val="EAFBF3"/>
              </a:solidFill>
              <a:latin typeface="Segoe UI" panose="020B0502040204020203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 i="0">
                <a:solidFill>
                  <a:srgbClr val="34D399"/>
                </a:solidFill>
                <a:latin typeface="Segoe UI" panose="020B0502040204020203"/>
              </a:rPr>
              <a:t>▸  </a:t>
            </a:r>
            <a:r>
              <a:rPr sz="1400" b="0" i="0">
                <a:solidFill>
                  <a:srgbClr val="EAFBF3"/>
                </a:solidFill>
                <a:latin typeface="Segoe UI" panose="020B0502040204020203"/>
              </a:rPr>
              <a:t>Runway to a self-serve payment gateway and repeatable onboarding motion</a:t>
            </a:r>
            <a:endParaRPr sz="1400" b="0" i="0">
              <a:solidFill>
                <a:srgbClr val="EAFBF3"/>
              </a:solidFill>
              <a:latin typeface="Segoe UI" panose="020B0502040204020203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D97706"/>
                </a:solidFill>
                <a:latin typeface="Segoe UI" panose="020B0502040204020203"/>
              </a:rPr>
              <a:t>Note: figures on this slide are placeholders — fill in your actual raise amount, hiring plan, and geography before sending this deck out.</a:t>
            </a:r>
            <a:endParaRPr sz="1050" b="0" i="1">
              <a:solidFill>
                <a:srgbClr val="D97706"/>
              </a:solidFill>
              <a:latin typeface="Segoe UI" panose="020B0502040204020203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" y="6473952"/>
            <a:ext cx="11183112" cy="15240"/>
          </a:xfrm>
          <a:prstGeom prst="rect">
            <a:avLst/>
          </a:prstGeom>
          <a:solidFill>
            <a:srgbClr val="D1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Segoe UI" panose="020B0502040204020203"/>
              </a:rPr>
              <a:t>OpsGenie</a:t>
            </a:r>
            <a:endParaRPr sz="1000" b="1" i="0">
              <a:solidFill>
                <a:srgbClr val="475569"/>
              </a:solidFill>
              <a:latin typeface="Segoe UI" panose="020B05020402040202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424160" y="651052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Segoe UI" panose="020B0502040204020203"/>
              </a:rPr>
              <a:t>16</a:t>
            </a:r>
            <a:endParaRPr sz="1000" b="0" i="0">
              <a:solidFill>
                <a:srgbClr val="475569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4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3840480"/>
            <a:ext cx="3840480" cy="3840480"/>
          </a:xfrm>
          <a:prstGeom prst="ellipse">
            <a:avLst/>
          </a:prstGeom>
          <a:solidFill>
            <a:srgbClr val="059669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 panose="020B0502040204020203"/>
              </a:rPr>
              <a:t>Every morning, before the day begins.</a:t>
            </a:r>
            <a:endParaRPr sz="3200" b="1" i="0">
              <a:solidFill>
                <a:srgbClr val="FFFFFF"/>
              </a:solidFill>
              <a:latin typeface="Segoe UI" panose="020B0502040204020203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" y="3429000"/>
            <a:ext cx="9144000" cy="2305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4D399"/>
                </a:solidFill>
                <a:latin typeface="Segoe UI" panose="020B0502040204020203"/>
              </a:rPr>
              <a:t>OpsGenie</a:t>
            </a:r>
            <a:endParaRPr sz="1500" b="0" i="0">
              <a:solidFill>
                <a:srgbClr val="34D399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10295</Words>
  <Application>WPS Presentation</Application>
  <PresentationFormat>On-screen Show (4:3)</PresentationFormat>
  <Paragraphs>415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6" baseType="lpstr">
      <vt:lpstr>Arial</vt:lpstr>
      <vt:lpstr>SimSun</vt:lpstr>
      <vt:lpstr>Wingdings</vt:lpstr>
      <vt:lpstr>Arial</vt:lpstr>
      <vt:lpstr>Segoe UI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Spandan</cp:lastModifiedBy>
  <cp:revision>2</cp:revision>
  <dcterms:created xsi:type="dcterms:W3CDTF">2013-01-27T09:14:00Z</dcterms:created>
  <dcterms:modified xsi:type="dcterms:W3CDTF">2026-07-23T13:36:02Z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52D99C4D42AE4E21A99B7AB7568AF38B_12</vt:lpwstr>
  </property>
  <property fmtid="{D5CDD505-2E9C-101B-9397-08002B2CF9AE}" pid="3" name="KSOProductBuildVer">
    <vt:lpwstr>1033-12.1.0.27458</vt:lpwstr>
  </property>
</Properties>
</file>