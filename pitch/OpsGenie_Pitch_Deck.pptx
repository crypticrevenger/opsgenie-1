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5966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Segoe UI"/>
              </a:rPr>
              <a:t>OpsGenie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Segoe UI"/>
              </a:rPr>
              <a:t>The WhatsApp-first financial operating assistant for B2B distributors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D1FAE5"/>
                </a:solidFill>
                <a:latin typeface="Segoe UI"/>
              </a:rPr>
              <a:t>Turns the records you already keep into a decision every morning — before the day begins.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F3D0"/>
                </a:solidFill>
                <a:latin typeface="Segoe UI"/>
              </a:rPr>
              <a:t>[Your Name]  ·  Founder  ·  tripathyspandan23@gmail.com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4E3B"/>
                </a:solidFill>
                <a:latin typeface="Segoe UI"/>
              </a:rPr>
              <a:t>A distributor’s financial reality lives in Tally.
Their daily decisions happen on WhatsApp and phone calls.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4D399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64E3B"/>
                </a:solidFill>
                <a:latin typeface="Segoe UI"/>
              </a:rPr>
              <a:t>Data ≠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Books are accurate, but nobody turns them into “what do I do today” fast enough to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214884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3774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4D399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9718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64E3B"/>
                </a:solidFill>
                <a:latin typeface="Segoe UI"/>
              </a:rPr>
              <a:t>Monthly cash surprises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61188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Distributors managing 20–50 dealer accounts hit cash-flow surprises monthly or more often — discovered too late to act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214884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23774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4D399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29718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64E3B"/>
                </a:solidFill>
                <a:latin typeface="Segoe UI"/>
              </a:rPr>
              <a:t>Zero appetite for new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361188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They already run Tally/Vyapar and live on WhatsApp. A new app to learn is a new app that goes unused.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965960"/>
            <a:ext cx="54864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241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Distributors don’t get blindsided because they lack data.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Segoe UI"/>
              </a:rPr>
              <a:t>They get blindsided because their data never becomes a decision fast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091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D1FAE5"/>
                </a:solidFill>
                <a:latin typeface="Segoe UI"/>
              </a:rPr>
              <a:t>OpsGenie closes that gap every single morning — automatically, on the channel they’re already 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4E3B"/>
                </a:solidFill>
                <a:latin typeface="Segoe UI"/>
              </a:rPr>
              <a:t>OpsGenie — a deterministic financial engine, delivered entirely over WhatsApp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5486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 i="0">
                <a:solidFill>
                  <a:srgbClr val="0F172A"/>
                </a:solidFill>
                <a:latin typeface="Segoe UI"/>
              </a:rPr>
              <a:t/>
            </a:r>
            <a:r>
              <a:rPr sz="1350" b="1" i="0">
                <a:solidFill>
                  <a:srgbClr val="10B981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Ingests what a distributor already has — Tally, Vyapar, Excel exports, even photographed Tally voucher PDFs.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 i="0">
                <a:solidFill>
                  <a:srgbClr val="0F172A"/>
                </a:solidFill>
                <a:latin typeface="Segoe UI"/>
              </a:rPr>
              <a:t/>
            </a:r>
            <a:r>
              <a:rPr sz="1350" b="1" i="0">
                <a:solidFill>
                  <a:srgbClr val="10B981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Maintains one deterministic ledger of invoices, payments, dealers and suppliers — no re-entry, no parallel system of record.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 i="0">
                <a:solidFill>
                  <a:srgbClr val="0F172A"/>
                </a:solidFill>
                <a:latin typeface="Segoe UI"/>
              </a:rPr>
              <a:t/>
            </a:r>
            <a:r>
              <a:rPr sz="1350" b="1" i="0">
                <a:solidFill>
                  <a:srgbClr val="10B981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Delivers a daily cash-position briefing, on-demand reports, and guided write actions (record a payment, create an order, update stock) entirely on WhatsApp.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 i="0">
                <a:solidFill>
                  <a:srgbClr val="0F172A"/>
                </a:solidFill>
                <a:latin typeface="Segoe UI"/>
              </a:rPr>
              <a:t/>
            </a:r>
            <a:r>
              <a:rPr sz="1350" b="1" i="0">
                <a:solidFill>
                  <a:srgbClr val="10B981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An LLM narrates and answers free-form questions — but never owns business state and never does money math.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96596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22199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8:00 AM — Morning Briefing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743200"/>
            <a:ext cx="4389120" cy="566928"/>
          </a:xfrm>
          <a:prstGeom prst="roundRect">
            <a:avLst>
              <a:gd name="adj" fmla="val 25000"/>
            </a:avLst>
          </a:prstGeom>
          <a:solidFill>
            <a:srgbClr val="0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816352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AFBF3"/>
                </a:solidFill>
                <a:latin typeface="Segoe UI"/>
              </a:rPr>
              <a:t>Good morning! Cash position: ₹4.2L in, ₹1.8L out (7d)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456432"/>
            <a:ext cx="4389120" cy="566928"/>
          </a:xfrm>
          <a:prstGeom prst="roundRect">
            <a:avLst>
              <a:gd name="adj" fmla="val 25000"/>
            </a:avLst>
          </a:prstGeom>
          <a:solidFill>
            <a:srgbClr val="0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529584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AFBF3"/>
                </a:solidFill>
                <a:latin typeface="Segoe UI"/>
              </a:rPr>
              <a:t>⚠️ Watch this week: Sharma Traders — ₹78,000 due in 2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169664"/>
            <a:ext cx="4389120" cy="566928"/>
          </a:xfrm>
          <a:prstGeom prst="roundRect">
            <a:avLst>
              <a:gd name="adj" fmla="val 25000"/>
            </a:avLst>
          </a:prstGeom>
          <a:solidFill>
            <a:srgbClr val="0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242816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AFBF3"/>
                </a:solidFill>
                <a:latin typeface="Segoe UI"/>
              </a:rPr>
              <a:t>📦 3 products may run out within 10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882896"/>
            <a:ext cx="4389120" cy="566928"/>
          </a:xfrm>
          <a:prstGeom prst="roundRect">
            <a:avLst>
              <a:gd name="adj" fmla="val 25000"/>
            </a:avLst>
          </a:prstGeom>
          <a:solidFill>
            <a:srgbClr val="0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4956048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AFBF3"/>
                </a:solidFill>
                <a:latin typeface="Segoe UI"/>
              </a:rPr>
              <a:t>Reply with a number, or type your question.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577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34D399"/>
                </a:solidFill>
                <a:latin typeface="Segoe UI"/>
              </a:rPr>
              <a:t>See the full working demo → pitch/demo/opsgenie_demo.html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4E3B"/>
                </a:solidFill>
                <a:latin typeface="Segoe UI"/>
              </a:rPr>
              <a:t>The product loop — this is the moat, not any single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1572768" cy="13716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423160"/>
            <a:ext cx="135331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Business event occurs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5688" y="2697480"/>
            <a:ext cx="34381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9502" y="2286000"/>
            <a:ext cx="1572768" cy="13716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9230" y="2423160"/>
            <a:ext cx="135331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Deterministic engine processes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2270" y="2697480"/>
            <a:ext cx="34381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6084" y="2286000"/>
            <a:ext cx="1572768" cy="13716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5812" y="2423160"/>
            <a:ext cx="135331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Snapshot reflects new reality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8852" y="2697480"/>
            <a:ext cx="34381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2666" y="2286000"/>
            <a:ext cx="1572768" cy="13716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2394" y="2423160"/>
            <a:ext cx="135331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Recommendation engine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5434" y="2697480"/>
            <a:ext cx="34381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9248" y="2286000"/>
            <a:ext cx="1572768" cy="13716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8976" y="2423160"/>
            <a:ext cx="135331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Morning briefing delivered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2016" y="2697480"/>
            <a:ext cx="34381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85830" y="2286000"/>
            <a:ext cx="1572768" cy="13716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58" y="2423160"/>
            <a:ext cx="135331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Distributor takes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475569"/>
                </a:solidFill>
                <a:latin typeface="Segoe UI"/>
              </a:rPr>
              <a:t>… which produces a new business event, and the loop repeats — daily, compounding.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4892040"/>
            <a:ext cx="9601200" cy="1234440"/>
          </a:xfrm>
          <a:prstGeom prst="roundRect">
            <a:avLst>
              <a:gd name="adj" fmla="val 8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5074920"/>
            <a:ext cx="8961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1">
                <a:solidFill>
                  <a:srgbClr val="064E3B"/>
                </a:solidFill>
                <a:latin typeface="Segoe UI"/>
              </a:rPr>
              <a:t>“The morning briefing is the output of this loop, not the product itself. The moat is the loop running daily, with real data accumulating over months.”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WHY DISTRIBUTORS CAN TRUST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4E3B"/>
                </a:solidFill>
                <a:latin typeface="Segoe UI"/>
              </a:rPr>
              <a:t>Money math never touches the LLM — by construction, not by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24028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9631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64E3B"/>
                </a:solidFill>
                <a:latin typeface="Segoe UI"/>
              </a:rPr>
              <a:t>Deterministic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75569"/>
                </a:solidFill>
                <a:latin typeface="Segoe UI"/>
              </a:rPr>
              <a:t>Every number in every briefing traces back to a real invoice or payment. The LLM narrates; it never calculates, decides, or writes.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6596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224028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9631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64E3B"/>
                </a:solidFill>
                <a:latin typeface="Segoe UI"/>
              </a:rPr>
              <a:t>Writes are guided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75569"/>
                </a:solidFill>
                <a:latin typeface="Segoe UI"/>
              </a:rPr>
              <a:t>Creating an order or recording a payment is a confirm-gated flow (“Reply YES to confirm”), re-derived fresh at the moment of confirmation — never a freeform AI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605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43484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64E3B"/>
                </a:solidFill>
                <a:latin typeface="Segoe UI"/>
              </a:rPr>
              <a:t>Money-safety guard on free-form 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75569"/>
                </a:solidFill>
                <a:latin typeface="Segoe UI"/>
              </a:rPr>
              <a:t>The AI Q&amp;A agent discards any reply containing a figure its own read-only tools didn’t actually return.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1605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443484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9087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64E3B"/>
                </a:solidFill>
                <a:latin typeface="Segoe UI"/>
              </a:rPr>
              <a:t>Provider-agnostic &amp; resilient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75569"/>
                </a:solidFill>
                <a:latin typeface="Segoe UI"/>
              </a:rPr>
              <a:t>A pluggable failover chain across 6 LLM providers (Claude, Gemini, Groq, OpenRouter, GitHub Models, Cohere) — verified in production failing over a real 429 with identical figures.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EVERYTHING WE’VE BUILT ·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64E3B"/>
                </a:solidFill>
                <a:latin typeface="Segoe UI"/>
              </a:rPr>
              <a:t>Daily intelligence, delivered before the day starts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Morning &amp; evening briefings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LLM-narrated cash position, honest accrual vs. cash-basis split — never blended into one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7-day cash-shortage 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Walks expected collections/payments day-by-day, names the single biggest payment driving the shortfall.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Stock-out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Sales-velocity model per product, guarded against thin data (≥3 sale-days, ≥10 units) before it ever speaks 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Pre-due invoice nudges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Fires 1–2 days before a receivable is due — with a suggested action, not just a number.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Dealer-risk &amp; overdue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Automatic flags for high-risk dealers; optional direct-to-dealer reminders with the distributor’s consent.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55864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Trend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Week-over-week cash trends and 30-day dealer/product movement — including credit-risk dealers whose balance is climbing.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EVERYTHING WE’VE BUILT ·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64E3B"/>
                </a:solidFill>
                <a:latin typeface="Segoe UI"/>
              </a:rPr>
              <a:t>A real system of record — written entirely from WhatsApp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Create orders &amp; invoices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Guided flow with live GST math, credit-limit and duplicate-order warnings, and an optional advance-payment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Record payments (FIFO)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Same allocator used by CSV import — confirm-gated, re-derived fresh at the moment of commit.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Invoice photo → OCR pre-fill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Photograph a paper invoice; vision-LLM pre-fills the same guided flow field-by-field — every field still needs a human YES.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Branded PDF invoices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Auto-generated, Unicode-script aware (Hindi/Odia/English), delivered straight to the dealer on WhatsApp.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Edit, void &amp; stock-take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Full audit trail (old → new, optional reason) on every correction; risky auto-reallocation deliberately left out for safety.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55864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Marketing broadcast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Opt-in only, segment by all/overdue/named dealers, re-derives the recipient list fresh at send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EVERYTHING WE’VE BUILT ·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64E3B"/>
                </a:solidFill>
                <a:latin typeface="Segoe UI"/>
              </a:rPr>
              <a:t>Vyapar/Tally-grade reports, without leaving WhatsApp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GST sales &amp; purchase 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Rate-wise summary, per-invoice-line detail — requested straight from a WhatsApp chat.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Ledger, day book &amp; aging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Opening → running → closing balance; aging bucketed Not Due / 0-30 / 31-60 / 61-90 / 90+.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Full Excel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An 11-sheet workbook per company, via a short-lived signed link — no login required.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Flexible import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Tally, Vyapar, canonical CSV/Excel — and now Tally “Multi Voucher Print” PDFs, parsed directly.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Self-serve reconciliation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Import totals shown and confirmed before WhatsApp ever starts — catch mistakes on a form, not mid-conversation.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55864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Delivery status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“Was that invoice PDF actually delivered?” — answerable on demand from real Meta delivery receipts.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EVERYTHING WE’VE BUILT ·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64E3B"/>
                </a:solidFill>
                <a:latin typeface="Segoe UI"/>
              </a:rPr>
              <a:t>Built for how India’s distributors actually operate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5-locale multilingual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English, Hindi &amp; Odia — Devanagari/Odia script and Romanized-first variants, tuned for how people actually type on WhatsApp.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Unicode invoice PDFs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Correctly renders regional-script dealer/product names — not just Latin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87451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87451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05739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Self-serve onboarding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6031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Public web wizard — import your data or start fresh, then WhatsApp only asks for what wasn’t already provided.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Admin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Password-gated, founder-facing view across every company, invoice, and payment.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Security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HMAC-verified WhatsApp webhook, signed short-lived export links, capability-token-gated onboarding.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4023359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55864" y="4023359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4206239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64E3B"/>
                </a:solidFill>
                <a:latin typeface="Segoe UI"/>
              </a:rPr>
              <a:t>Resumable, correctable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59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Progress checklist, restart, and 30+ guided correction commands — nothing is a one-shot, unrecoverable step.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Engineered like production software, not a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566160" cy="1417320"/>
          </a:xfrm>
          <a:prstGeom prst="roundRect">
            <a:avLst>
              <a:gd name="adj" fmla="val 10000"/>
            </a:avLst>
          </a:prstGeom>
          <a:solidFill>
            <a:srgbClr val="0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3055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86207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1FAE5"/>
                </a:solidFill>
                <a:latin typeface="Segoe UI"/>
              </a:rPr>
              <a:t>ORM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65960"/>
            <a:ext cx="3566160" cy="1417320"/>
          </a:xfrm>
          <a:prstGeom prst="roundRect">
            <a:avLst>
              <a:gd name="adj" fmla="val 10000"/>
            </a:avLst>
          </a:prstGeom>
          <a:solidFill>
            <a:srgbClr val="0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3055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Segoe UI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86207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1FAE5"/>
                </a:solidFill>
                <a:latin typeface="Segoe UI"/>
              </a:rPr>
              <a:t>Alembic migrations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65960"/>
            <a:ext cx="3566160" cy="1417320"/>
          </a:xfrm>
          <a:prstGeom prst="roundRect">
            <a:avLst>
              <a:gd name="adj" fmla="val 10000"/>
            </a:avLst>
          </a:prstGeom>
          <a:solidFill>
            <a:srgbClr val="0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13055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Segoe UI"/>
              </a:rPr>
              <a:t>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86207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1FAE5"/>
                </a:solidFill>
                <a:latin typeface="Segoe UI"/>
              </a:rPr>
              <a:t>test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84448"/>
            <a:ext cx="3566160" cy="1417320"/>
          </a:xfrm>
          <a:prstGeom prst="roundRect">
            <a:avLst>
              <a:gd name="adj" fmla="val 10000"/>
            </a:avLst>
          </a:prstGeom>
          <a:solidFill>
            <a:srgbClr val="0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490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Segoe UI"/>
              </a:rPr>
              <a:t>1,002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4805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1FAE5"/>
                </a:solidFill>
                <a:latin typeface="Segoe UI"/>
              </a:rPr>
              <a:t>automated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584448"/>
            <a:ext cx="3566160" cy="1417320"/>
          </a:xfrm>
          <a:prstGeom prst="roundRect">
            <a:avLst>
              <a:gd name="adj" fmla="val 10000"/>
            </a:avLst>
          </a:prstGeom>
          <a:solidFill>
            <a:srgbClr val="0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7490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4805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1FAE5"/>
                </a:solidFill>
                <a:latin typeface="Segoe UI"/>
              </a:rPr>
              <a:t>LLM providers, auto-failover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584448"/>
            <a:ext cx="3566160" cy="1417320"/>
          </a:xfrm>
          <a:prstGeom prst="roundRect">
            <a:avLst>
              <a:gd name="adj" fmla="val 10000"/>
            </a:avLst>
          </a:prstGeom>
          <a:solidFill>
            <a:srgbClr val="0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7490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44805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1FAE5"/>
                </a:solidFill>
                <a:latin typeface="Segoe UI"/>
              </a:rPr>
              <a:t>languages/scripts supported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4D399"/>
                </a:solidFill>
                <a:latin typeface="Segoe UI"/>
              </a:rPr>
              <a:t>FastAPI · PostgreSQL (Neon) · Meta WhatsApp Business API · Render (API + scheduler) · Vercel (marketing site) · fpdf2 · APScheduler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4E3B"/>
                </a:solidFill>
                <a:latin typeface="Segoe UI"/>
              </a:rPr>
              <a:t>Built solo. Shipped in production. Running on a real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6675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0F172A"/>
                </a:solidFill>
                <a:latin typeface="Segoe UI"/>
              </a:rPr>
              <a:t/>
            </a:r>
            <a:r>
              <a:rPr sz="1300" b="1" i="0">
                <a:solidFill>
                  <a:srgbClr val="10B981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0F172A"/>
                </a:solidFill>
                <a:latin typeface="Segoe UI"/>
              </a:rPr>
              <a:t>Live in production for a real distributor pilot on WhatsApp — not a sandboxed demo.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0F172A"/>
                </a:solidFill>
                <a:latin typeface="Segoe UI"/>
              </a:rPr>
              <a:t/>
            </a:r>
            <a:r>
              <a:rPr sz="1300" b="1" i="0">
                <a:solidFill>
                  <a:srgbClr val="10B981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0F172A"/>
                </a:solidFill>
                <a:latin typeface="Segoe UI"/>
              </a:rPr>
              <a:t>Every roadmap version shipped: V0.0 Proof of Value → V0.1 Operational Product → V0.2 Source of Truth → V0.3 Intelligence &amp; Expansion — all complete.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0F172A"/>
                </a:solidFill>
                <a:latin typeface="Segoe UI"/>
              </a:rPr>
              <a:t/>
            </a:r>
            <a:r>
              <a:rPr sz="1300" b="1" i="0">
                <a:solidFill>
                  <a:srgbClr val="10B981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0F172A"/>
                </a:solidFill>
                <a:latin typeface="Segoe UI"/>
              </a:rPr>
              <a:t>A full whole-codebase audit (≈32k LOC, 4 parallel domain reviews) found and fixed 8 real production-grade bugs — each shipped with a regression test proven to fail without the fix.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0F172A"/>
                </a:solidFill>
                <a:latin typeface="Segoe UI"/>
              </a:rPr>
              <a:t/>
            </a:r>
            <a:r>
              <a:rPr sz="1300" b="1" i="0">
                <a:solidFill>
                  <a:srgbClr val="10B981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0F172A"/>
                </a:solidFill>
                <a:latin typeface="Segoe UI"/>
              </a:rPr>
              <a:t>Live incidents diagnosed and resolved directly from the founder’s own WhatsApp screenshots while distributors were actively using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4206240" cy="416052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20574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4E3B"/>
                </a:solidFill>
                <a:latin typeface="Segoe UI"/>
              </a:rPr>
              <a:t>Version roadmap</a:t>
            </a:r>
          </a:p>
        </p:txBody>
      </p:sp>
      <p:sp>
        <p:nvSpPr>
          <p:cNvPr id="8" name="Oval 7"/>
          <p:cNvSpPr/>
          <p:nvPr/>
        </p:nvSpPr>
        <p:spPr>
          <a:xfrm>
            <a:off x="7726679" y="255117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487168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64E3B"/>
                </a:solidFill>
                <a:latin typeface="Segoe UI"/>
              </a:rPr>
              <a:t/>
            </a:r>
            <a:r>
              <a:rPr sz="1150" b="1" i="0">
                <a:solidFill>
                  <a:srgbClr val="10B981"/>
                </a:solidFill>
                <a:latin typeface="Segoe UI"/>
              </a:rPr>
              <a:t>V0.0 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Proof of Value</a:t>
            </a:r>
          </a:p>
        </p:txBody>
      </p:sp>
      <p:sp>
        <p:nvSpPr>
          <p:cNvPr id="10" name="Oval 9"/>
          <p:cNvSpPr/>
          <p:nvPr/>
        </p:nvSpPr>
        <p:spPr>
          <a:xfrm>
            <a:off x="7726679" y="320954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3145536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64E3B"/>
                </a:solidFill>
                <a:latin typeface="Segoe UI"/>
              </a:rPr>
              <a:t/>
            </a:r>
            <a:r>
              <a:rPr sz="1150" b="1" i="0">
                <a:solidFill>
                  <a:srgbClr val="10B981"/>
                </a:solidFill>
                <a:latin typeface="Segoe UI"/>
              </a:rPr>
              <a:t>V0.1 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Operational Product</a:t>
            </a:r>
          </a:p>
        </p:txBody>
      </p:sp>
      <p:sp>
        <p:nvSpPr>
          <p:cNvPr id="12" name="Oval 11"/>
          <p:cNvSpPr/>
          <p:nvPr/>
        </p:nvSpPr>
        <p:spPr>
          <a:xfrm>
            <a:off x="7726679" y="386791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803904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64E3B"/>
                </a:solidFill>
                <a:latin typeface="Segoe UI"/>
              </a:rPr>
              <a:t/>
            </a:r>
            <a:r>
              <a:rPr sz="1150" b="1" i="0">
                <a:solidFill>
                  <a:srgbClr val="10B981"/>
                </a:solidFill>
                <a:latin typeface="Segoe UI"/>
              </a:rPr>
              <a:t>V0.2 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Source of Truth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452628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4462272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64E3B"/>
                </a:solidFill>
                <a:latin typeface="Segoe UI"/>
              </a:rPr>
              <a:t/>
            </a:r>
            <a:r>
              <a:rPr sz="1150" b="1" i="0">
                <a:solidFill>
                  <a:srgbClr val="10B981"/>
                </a:solidFill>
                <a:latin typeface="Segoe UI"/>
              </a:rPr>
              <a:t>V0.3 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Intelligence &amp; Expansion</a:t>
            </a:r>
          </a:p>
        </p:txBody>
      </p:sp>
      <p:sp>
        <p:nvSpPr>
          <p:cNvPr id="16" name="Oval 15"/>
          <p:cNvSpPr/>
          <p:nvPr/>
        </p:nvSpPr>
        <p:spPr>
          <a:xfrm>
            <a:off x="7726679" y="518464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512064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64E3B"/>
                </a:solidFill>
                <a:latin typeface="Segoe UI"/>
              </a:rPr>
              <a:t/>
            </a:r>
            <a:r>
              <a:rPr sz="1150" b="1" i="0">
                <a:solidFill>
                  <a:srgbClr val="10B981"/>
                </a:solidFill>
                <a:latin typeface="Segoe UI"/>
              </a:rPr>
              <a:t>Post-SPEC 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Onboarding, dashboard, multilingual, OCR, forecasts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4E3B"/>
                </a:solidFill>
                <a:latin typeface="Segoe UI"/>
              </a:rPr>
              <a:t>A large, underserved, WhatsApp-native customer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64E3B"/>
                </a:solidFill>
                <a:latin typeface="Segoe UI"/>
              </a:rPr>
              <a:t>Who we serve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FMCG, pharma, poultry/agri and wholesale B2B distributors already running Tally or Vyapar, managing 20–50 dealer accounts, facing cash-flow surprises monthly or more often.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500" b="1" i="0">
                <a:solidFill>
                  <a:srgbClr val="064E3B"/>
                </a:solidFill>
                <a:latin typeface="Segoe UI"/>
              </a:rPr>
              <a:t>Why WhatsApp is the wedge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It's already their primary business channel — no app to install, no login to remember, no training session required.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500" b="1" i="0">
                <a:solidFill>
                  <a:srgbClr val="064E3B"/>
                </a:solidFill>
                <a:latin typeface="Segoe UI"/>
              </a:rPr>
              <a:t>Why now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WhatsApp Business API access, capable low-cost LLMs, and India's UPI/GST-driven digitization of small-business records have only recently made this combination viable.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828800"/>
            <a:ext cx="4754880" cy="4160520"/>
          </a:xfrm>
          <a:prstGeom prst="roundRect">
            <a:avLst>
              <a:gd name="adj" fmla="val 6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2057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"/>
              </a:rPr>
              <a:t>Sizing (illustrative — refine before pitching)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6060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1FAE5"/>
                </a:solidFill>
                <a:latin typeface="Segoe UI"/>
              </a:rPr>
              <a:t>Tally-using businesses in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8986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4D399"/>
                </a:solidFill>
                <a:latin typeface="Segoe UI"/>
              </a:rPr>
              <a:t>2M+ (public Tally figure)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429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1FAE5"/>
                </a:solidFill>
                <a:latin typeface="Segoe UI"/>
              </a:rPr>
              <a:t>Est. B2B distributors, target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72160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7706"/>
                </a:solidFill>
                <a:latin typeface="Segoe UI"/>
              </a:rPr>
              <a:t>[X hundred thousand — size this]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42519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1FAE5"/>
                </a:solidFill>
                <a:latin typeface="Segoe UI"/>
              </a:rPr>
              <a:t>SAM (reachable via WhatsApp, GST-registered)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45445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7706"/>
                </a:solidFill>
                <a:latin typeface="Segoe UI"/>
              </a:rPr>
              <a:t>[refine]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50749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1FAE5"/>
                </a:solidFill>
                <a:latin typeface="Segoe UI"/>
              </a:rPr>
              <a:t>SOM (Yr 1 pilot geography)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53675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7706"/>
                </a:solidFill>
                <a:latin typeface="Segoe UI"/>
              </a:rPr>
              <a:t>[refine]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4E3B"/>
                </a:solidFill>
                <a:latin typeface="Segoe UI"/>
              </a:rPr>
              <a:t>Simple SaaS, distribution through the network already in the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3611880" cy="26517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64E3B"/>
                </a:solidFill>
                <a:latin typeface="Segoe UI"/>
              </a:rPr>
              <a:t>Subscription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3063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Segoe UI"/>
              </a:rPr>
              <a:t>₹999/month per distributor (pilot pricing). Founder-activated today; self-serve payment is the next infrastructure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965960"/>
            <a:ext cx="3611880" cy="26517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1945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64E3B"/>
                </a:solidFill>
                <a:latin typeface="Segoe UI"/>
              </a:rPr>
              <a:t>Low CAC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743200"/>
            <a:ext cx="3063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Segoe UI"/>
              </a:rPr>
              <a:t>WhatsApp is both the product and the distribution surface — a distributor’s own dealer/supplier network sees the product working.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965960"/>
            <a:ext cx="3611880" cy="265176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4" y="21945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64E3B"/>
                </a:solidFill>
                <a:latin typeface="Segoe UI"/>
              </a:rPr>
              <a:t>Expansion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4" y="2743200"/>
            <a:ext cx="3063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Segoe UI"/>
              </a:rPr>
              <a:t>Land with one distributor → their accountant/operator becomes the champion → word-of-mouth within tight-knit distributor trade circles.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475569"/>
                </a:solidFill>
                <a:latin typeface="Segoe UI"/>
              </a:rPr>
              <a:t>Known, deliberately-deferred gap: no payment gateway yet — subscription activation is manual today (correct sequencing for pilot validation, per this project’s phase-discipline principle: prove the product before automating billing for it).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WHAT’S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4E3B"/>
                </a:solidFill>
                <a:latin typeface="Segoe UI"/>
              </a:rPr>
              <a:t>Harden for scale, then widen the funnel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3611880" cy="393192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3611880" cy="56692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Harden for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180" b="0" i="0">
                <a:solidFill>
                  <a:srgbClr val="0F172A"/>
                </a:solidFill>
                <a:latin typeface="Segoe UI"/>
              </a:rPr>
              <a:t/>
            </a:r>
            <a:r>
              <a:rPr sz="1180" b="1" i="0">
                <a:solidFill>
                  <a:srgbClr val="10B981"/>
                </a:solidFill>
                <a:latin typeface="Segoe UI"/>
              </a:rPr>
              <a:t>• 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CI pipeline running the full suite on every change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180" b="0" i="0">
                <a:solidFill>
                  <a:srgbClr val="0F172A"/>
                </a:solidFill>
                <a:latin typeface="Segoe UI"/>
              </a:rPr>
              <a:t/>
            </a:r>
            <a:r>
              <a:rPr sz="1180" b="1" i="0">
                <a:solidFill>
                  <a:srgbClr val="10B981"/>
                </a:solidFill>
                <a:latin typeface="Segoe UI"/>
              </a:rPr>
              <a:t>• 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LLM provider timeouts + scheduler catch-up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180" b="0" i="0">
                <a:solidFill>
                  <a:srgbClr val="0F172A"/>
                </a:solidFill>
                <a:latin typeface="Segoe UI"/>
              </a:rPr>
              <a:t/>
            </a:r>
            <a:r>
              <a:rPr sz="1180" b="1" i="0">
                <a:solidFill>
                  <a:srgbClr val="10B981"/>
                </a:solidFill>
                <a:latin typeface="Segoe UI"/>
              </a:rPr>
              <a:t>• 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Security hardening (rate limiting, session expiry)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874519"/>
            <a:ext cx="3611880" cy="393192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874519"/>
            <a:ext cx="3611880" cy="56692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993392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Widen the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5176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180" b="0" i="0">
                <a:solidFill>
                  <a:srgbClr val="0F172A"/>
                </a:solidFill>
                <a:latin typeface="Segoe UI"/>
              </a:rPr>
              <a:t/>
            </a:r>
            <a:r>
              <a:rPr sz="1180" b="1" i="0">
                <a:solidFill>
                  <a:srgbClr val="10B981"/>
                </a:solidFill>
                <a:latin typeface="Segoe UI"/>
              </a:rPr>
              <a:t>• 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Voice notes (low-literacy operators)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180" b="0" i="0">
                <a:solidFill>
                  <a:srgbClr val="0F172A"/>
                </a:solidFill>
                <a:latin typeface="Segoe UI"/>
              </a:rPr>
              <a:t/>
            </a:r>
            <a:r>
              <a:rPr sz="1180" b="1" i="0">
                <a:solidFill>
                  <a:srgbClr val="10B981"/>
                </a:solidFill>
                <a:latin typeface="Segoe UI"/>
              </a:rPr>
              <a:t>• 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Self-serve payment gateway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180" b="0" i="0">
                <a:solidFill>
                  <a:srgbClr val="0F172A"/>
                </a:solidFill>
                <a:latin typeface="Segoe UI"/>
              </a:rPr>
              <a:t/>
            </a:r>
            <a:r>
              <a:rPr sz="1180" b="1" i="0">
                <a:solidFill>
                  <a:srgbClr val="10B981"/>
                </a:solidFill>
                <a:latin typeface="Segoe UI"/>
              </a:rPr>
              <a:t>• 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GSTR-filing-ready export 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874519"/>
            <a:ext cx="3611880" cy="3931920"/>
          </a:xfrm>
          <a:prstGeom prst="roundRect">
            <a:avLst>
              <a:gd name="adj" fmla="val 7000"/>
            </a:avLst>
          </a:prstGeom>
          <a:solidFill>
            <a:srgbClr val="F0FDF9"/>
          </a:solidFill>
          <a:ln w="12700">
            <a:solidFill>
              <a:srgbClr val="D1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874519"/>
            <a:ext cx="3611880" cy="56692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93392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Grow the pilot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65176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180" b="0" i="0">
                <a:solidFill>
                  <a:srgbClr val="0F172A"/>
                </a:solidFill>
                <a:latin typeface="Segoe UI"/>
              </a:rPr>
              <a:t/>
            </a:r>
            <a:r>
              <a:rPr sz="1180" b="1" i="0">
                <a:solidFill>
                  <a:srgbClr val="10B981"/>
                </a:solidFill>
                <a:latin typeface="Segoe UI"/>
              </a:rPr>
              <a:t>• 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Formalize the current pilot into a case study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180" b="0" i="0">
                <a:solidFill>
                  <a:srgbClr val="0F172A"/>
                </a:solidFill>
                <a:latin typeface="Segoe UI"/>
              </a:rPr>
              <a:t/>
            </a:r>
            <a:r>
              <a:rPr sz="1180" b="1" i="0">
                <a:solidFill>
                  <a:srgbClr val="10B981"/>
                </a:solidFill>
                <a:latin typeface="Segoe UI"/>
              </a:rPr>
              <a:t>• 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Onboard the next cohort of distributors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180" b="0" i="0">
                <a:solidFill>
                  <a:srgbClr val="0F172A"/>
                </a:solidFill>
                <a:latin typeface="Segoe UI"/>
              </a:rPr>
              <a:t/>
            </a:r>
            <a:r>
              <a:rPr sz="1180" b="1" i="0">
                <a:solidFill>
                  <a:srgbClr val="10B981"/>
                </a:solidFill>
                <a:latin typeface="Segoe UI"/>
              </a:rPr>
              <a:t>• 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Meta-approved marketing/reminder templates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572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[Placeholder — fill in before presenting]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4D399"/>
                </a:solidFill>
                <a:latin typeface="Segoe UI"/>
              </a:rPr>
              <a:t>Raising ₹[X] to fund the next [12/18]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/>
            </a:r>
            <a:r>
              <a:rPr sz="14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1400" b="0" i="0">
                <a:solidFill>
                  <a:srgbClr val="EAFBF3"/>
                </a:solidFill>
                <a:latin typeface="Segoe UI"/>
              </a:rPr>
              <a:t>[N] engineering hires to build CI, harden scheduling/security, and ship the next feature tier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/>
            </a:r>
            <a:r>
              <a:rPr sz="14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1400" b="0" i="0">
                <a:solidFill>
                  <a:srgbClr val="EAFBF3"/>
                </a:solidFill>
                <a:latin typeface="Segoe UI"/>
              </a:rPr>
              <a:t>Go-to-market into [N] additional pilot distributors across [geography/vertical]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/>
            </a:r>
            <a:r>
              <a:rPr sz="14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1400" b="0" i="0">
                <a:solidFill>
                  <a:srgbClr val="EAFBF3"/>
                </a:solidFill>
                <a:latin typeface="Segoe UI"/>
              </a:rPr>
              <a:t>Meta template approvals + WhatsApp Business API scale-up costs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/>
            </a:r>
            <a:r>
              <a:rPr sz="14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1400" b="0" i="0">
                <a:solidFill>
                  <a:srgbClr val="EAFBF3"/>
                </a:solidFill>
                <a:latin typeface="Segoe UI"/>
              </a:rPr>
              <a:t>Runway to a self-serve payment gateway and repeatable onboarding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D97706"/>
                </a:solidFill>
                <a:latin typeface="Segoe UI"/>
              </a:rPr>
              <a:t>Note: figures on this slide are placeholders — fill in your actual raise amount, hiring plan, and geography before sending this deck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1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Segoe UI"/>
              </a:rPr>
              <a:t>OpsGenie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840480"/>
            <a:ext cx="3840480" cy="3840480"/>
          </a:xfrm>
          <a:prstGeom prst="ellipse">
            <a:avLst/>
          </a:prstGeom>
          <a:solidFill>
            <a:srgbClr val="05966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Every morning, before the day begins.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4D399"/>
                </a:solidFill>
                <a:latin typeface="Segoe UI"/>
              </a:rPr>
              <a:t>OpsGenie · tripathyspandan23@gmail.com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